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코드 출처: https://github.com/msiism99/first-repository/blob/00568f245943827b312d88682c0e3aa9a3db19b3/MERGE/013.py</a:t>
            </a:r>
          </a:p>
          <a:p>
            <a:r>
              <a:t>소스 위치: L30–981</a:t>
            </a:r>
          </a:p>
          <a:p>
            <a:r>
              <a:t>코드 기준 설명이며 VBA 원본과 생산 데이터 검증은 포함하지 않습니다.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코드 출처: https://github.com/msiism99/first-repository/blob/00568f245943827b312d88682c0e3aa9a3db19b3/MERGE/013.py</a:t>
            </a:r>
          </a:p>
          <a:p>
            <a:r>
              <a:t>소스 위치: L368–378, L406–570</a:t>
            </a:r>
          </a:p>
          <a:p>
            <a:r>
              <a:t>코드 기준 설명이며 VBA 원본과 생산 데이터 검증은 포함하지 않습니다.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코드 출처: https://github.com/msiism99/first-repository/blob/00568f245943827b312d88682c0e3aa9a3db19b3/MERGE/013.py</a:t>
            </a:r>
          </a:p>
          <a:p>
            <a:r>
              <a:t>소스 위치: 012.py L215–366 / 013.py L730–905</a:t>
            </a:r>
          </a:p>
          <a:p>
            <a:r>
              <a:t>코드 기준 설명이며 VBA 원본과 생산 데이터 검증은 포함하지 않습니다.</a:t>
            </a:r>
          </a:p>
          <a:p>
            <a:r>
              <a:t>Wafer WK/RK 단계 출처: https://github.com/msiism99/first-repository/blob/00568f245943827b312d88682c0e3aa9a3db19b3/MERGE/012.py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코드 출처: https://github.com/msiism99/first-repository/blob/00568f245943827b312d88682c0e3aa9a3db19b3/MERGE/013.py</a:t>
            </a:r>
          </a:p>
          <a:p>
            <a:r>
              <a:t>소스 위치: L30–45, L730–748</a:t>
            </a:r>
          </a:p>
          <a:p>
            <a:r>
              <a:t>코드 기준 설명이며 VBA 원본과 생산 데이터 검증은 포함하지 않습니다.</a:t>
            </a:r>
          </a:p>
          <a:p/>
          <a:p>
            <a:r>
              <a:t>G-opt 기본값의 전달 경로: gopt_value와 solve_vba_style_ridge_one_axis의 함수 signature 기본값은 4입니다. run_cpe38_vba_style_shotwise는 G_OPTIMAL_TYPE=1을 기본값으로 받고 main도 이 값을 명시적으로 넘기므로, 현재 main 경로의 실제 계산은 Type 1입니다.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코드 출처: https://github.com/msiism99/first-repository/blob/00568f245943827b312d88682c0e3aa9a3db19b3/MERGE/013.py</a:t>
            </a:r>
          </a:p>
          <a:p>
            <a:r>
              <a:t>소스 위치: L33–40, L586–722</a:t>
            </a:r>
          </a:p>
          <a:p>
            <a:r>
              <a:t>코드 기준 설명이며 VBA 원본과 생산 데이터 검증은 포함하지 않습니다.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코드 출처: https://github.com/msiism99/first-repository/blob/00568f245943827b312d88682c0e3aa9a3db19b3/MERGE/013.py</a:t>
            </a:r>
          </a:p>
          <a:p>
            <a:r>
              <a:t>소스 위치: L730–813</a:t>
            </a:r>
          </a:p>
          <a:p>
            <a:r>
              <a:t>코드 기준 설명이며 VBA 원본과 생산 데이터 검증은 포함하지 않습니다.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코드 출처: https://github.com/msiism99/first-repository/blob/00568f245943827b312d88682c0e3aa9a3db19b3/MERGE/013.py</a:t>
            </a:r>
          </a:p>
          <a:p>
            <a:r>
              <a:t>소스 위치: L52–98</a:t>
            </a:r>
          </a:p>
          <a:p>
            <a:r>
              <a:t>코드 기준 설명이며 VBA 원본과 생산 데이터 검증은 포함하지 않습니다.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코드 출처: https://github.com/msiism99/first-repository/blob/00568f245943827b312d88682c0e3aa9a3db19b3/MERGE/013.py</a:t>
            </a:r>
          </a:p>
          <a:p>
            <a:r>
              <a:t>소스 위치: L52–77, L233–239</a:t>
            </a:r>
          </a:p>
          <a:p>
            <a:r>
              <a:t>코드 기준 설명이며 VBA 원본과 생산 데이터 검증은 포함하지 않습니다.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코드 출처: https://github.com/msiism99/first-repository/blob/00568f245943827b312d88682c0e3aa9a3db19b3/MERGE/013.py</a:t>
            </a:r>
          </a:p>
          <a:p>
            <a:r>
              <a:t>소스 위치: L242–358</a:t>
            </a:r>
          </a:p>
          <a:p>
            <a:r>
              <a:t>코드 기준 설명이며 VBA 원본과 생산 데이터 검증은 포함하지 않습니다.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코드 출처: https://github.com/msiism99/first-repository/blob/00568f245943827b312d88682c0e3aa9a3db19b3/MERGE/013.py</a:t>
            </a:r>
          </a:p>
          <a:p>
            <a:r>
              <a:t>소스 위치: L314–358, L381–403, L725–727</a:t>
            </a:r>
          </a:p>
          <a:p>
            <a:r>
              <a:t>코드 기준 설명이며 VBA 원본과 생산 데이터 검증은 포함하지 않습니다.</a:t>
            </a:r>
          </a:p>
          <a:p/>
          <a:p>
            <a:r>
              <a:t>USE_VIRTUAL_CHIP_POINTS=True에서 metadata fallback은 전역 CPE_EVAL_GRID_N을 사용합니다. False 경로는 인자 eval_grid_n을 사용합니다. 현재 main에서는 둘 다 10입니다. inner/partial은 n_valid와 clipping/fallback 이후 n_virtual의 count 비교이고, 실제 좌표 coverage를 검사하지 않습니다.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코드 출처: https://github.com/msiism99/first-repository/blob/00568f245943827b312d88682c0e3aa9a3db19b3/MERGE/013.py</a:t>
            </a:r>
          </a:p>
          <a:p>
            <a:r>
              <a:t>소스 위치: L233–239, L368–378</a:t>
            </a:r>
          </a:p>
          <a:p>
            <a:r>
              <a:t>코드 기준 설명이며 VBA 원본과 생산 데이터 검증은 포함하지 않습니다.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코드 출처: https://github.com/msiism99/first-repository/blob/00568f245943827b312d88682c0e3aa9a3db19b3/MERGE/013.py</a:t>
            </a:r>
          </a:p>
          <a:p>
            <a:r>
              <a:t>소스 위치: L223–239</a:t>
            </a:r>
          </a:p>
          <a:p>
            <a:r>
              <a:t>코드 기준 설명이며 VBA 원본과 생산 데이터 검증은 포함하지 않습니다.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코드 출처: https://github.com/msiism99/first-repository/blob/00568f245943827b312d88682c0e3aa9a3db19b3/MERGE/013.py</a:t>
            </a:r>
          </a:p>
          <a:p>
            <a:r>
              <a:t>소스 위치: L204–214, L623–647</a:t>
            </a:r>
          </a:p>
          <a:p>
            <a:r>
              <a:t>코드 기준 설명이며 VBA 원본과 생산 데이터 검증은 포함하지 않습니다.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코드 출처: https://github.com/msiism99/first-repository/blob/00568f245943827b312d88682c0e3aa9a3db19b3/MERGE/013.py</a:t>
            </a:r>
          </a:p>
          <a:p>
            <a:r>
              <a:t>소스 위치: L406–453</a:t>
            </a:r>
          </a:p>
          <a:p>
            <a:r>
              <a:t>코드 기준 설명이며 VBA 원본과 생산 데이터 검증은 포함하지 않습니다.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2의 docstring은 max abs라고 적혀 있지만 현재 body는 np.nanmax(H)의 signed maximum을 구한 뒤 sqrt합니다. Type 4는 n_valid &gt;= n_virtual의 count proxy로 inner/partial을 구분합니다. Type 3는 regularized information inverse 기반이며 Ridge의 실제 예측 noise covariance에는 sandwich가 필요합니다.</a:t>
            </a:r>
          </a:p>
          <a:p/>
          <a:p>
            <a:r>
              <a:t>코드 출처: https://github.com/msiism99/first-repository/blob/00568f245943827b312d88682c0e3aa9a3db19b3/MERGE/013.py</a:t>
            </a:r>
          </a:p>
          <a:p>
            <a:r>
              <a:t>소스 위치: L406–453</a:t>
            </a:r>
          </a:p>
          <a:p>
            <a:r>
              <a:t>코드 기준 설명이며 VBA 원본과 생산 데이터 검증은 포함하지 않습니다.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 = signal + epsilon, Cov(epsilon) = sigma^2 I일 때 고정 λ의 unconstrained ridge prediction은 H y입니다. Cov(H epsilon) = sigma^2 H H^T이고 g1은 최대 표준편차/측정 noise 표준편차입니다. Bias, 측정 noise의 이분산·상관, 실제 OCO와의 관계는 이 지표만으로 평가하지 않습니다.</a:t>
            </a:r>
          </a:p>
          <a:p/>
          <a:p>
            <a:r>
              <a:t>코드 출처: https://github.com/msiism99/first-repository/blob/00568f245943827b312d88682c0e3aa9a3db19b3/MERGE/013.py</a:t>
            </a:r>
          </a:p>
          <a:p>
            <a:r>
              <a:t>소스 위치: L429–435</a:t>
            </a:r>
          </a:p>
          <a:p>
            <a:r>
              <a:t>코드 기준 설명이며 VBA 원본과 생산 데이터 검증은 포함하지 않습니다.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코드 출처: https://github.com/msiism99/first-repository/blob/00568f245943827b312d88682c0e3aa9a3db19b3/MERGE/013.py</a:t>
            </a:r>
          </a:p>
          <a:p>
            <a:r>
              <a:t>소스 위치: L623–694</a:t>
            </a:r>
          </a:p>
          <a:p>
            <a:r>
              <a:t>코드 기준 설명이며 VBA 원본과 생산 데이터 검증은 포함하지 않습니다.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코드 출처: https://github.com/msiism99/first-repository/blob/00568f245943827b312d88682c0e3aa9a3db19b3/MERGE/013.py</a:t>
            </a:r>
          </a:p>
          <a:p>
            <a:r>
              <a:t>소스 위치: L623–694 / 합성 seed=16</a:t>
            </a:r>
          </a:p>
          <a:p>
            <a:r>
              <a:t>코드 기준 설명이며 VBA 원본과 생산 데이터 검증은 포함하지 않습니다.</a:t>
            </a:r>
          </a:p>
          <a:p/>
          <a:p>
            <a:r>
              <a:t>합성 입력 생성: numpy.random.default_rng(16), n=32; rx ~ Uniform(-6000,6000), ry ~ Uniform(-8000,8000); y=0.04+0.5*(rx/13000)^2-0.08*(ry/16500)+Normal(0,0.015). 평가점은 STEP_PITCH_X=26000, STEP_PITCH_Y=33000, CHIP_X_NUM=CHIP_Y_NUM=3의 corner/center 25개입니다. X 방향 CPE38을 사용했고 G-opt Type 1, F2F span preset, 기타 solver 기본값을 유지했습니다. 비교 조건은 (ridge=False,box=False), (True,False), (True,True)입니다. 수치는 입력 residual의 임의 단위이며 생산 성능을 의미하지 않습니다.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코드 출처: https://github.com/msiism99/first-repository/blob/00568f245943827b312d88682c0e3aa9a3db19b3/MERGE/013.py</a:t>
            </a:r>
          </a:p>
          <a:p>
            <a:r>
              <a:t>소스 위치: L456–506</a:t>
            </a:r>
          </a:p>
          <a:p>
            <a:r>
              <a:t>코드 기준 설명이며 VBA 원본과 생산 데이터 검증은 포함하지 않습니다.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코드 출처: https://github.com/msiism99/first-repository/blob/00568f245943827b312d88682c0e3aa9a3db19b3/MERGE/013.py</a:t>
            </a:r>
          </a:p>
          <a:p>
            <a:r>
              <a:t>소스 위치: L105–144, L464–478</a:t>
            </a:r>
          </a:p>
          <a:p>
            <a:r>
              <a:t>코드 기준 설명이며 VBA 원본과 생산 데이터 검증은 포함하지 않습니다.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코드 출처: https://github.com/msiism99/first-repository/blob/00568f245943827b312d88682c0e3aa9a3db19b3/MERGE/013.py</a:t>
            </a:r>
          </a:p>
          <a:p>
            <a:r>
              <a:t>소스 위치: L481–506</a:t>
            </a:r>
          </a:p>
          <a:p>
            <a:r>
              <a:t>코드 기준 설명이며 VBA 원본과 생산 데이터 검증은 포함하지 않습니다.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코드 출처: https://github.com/msiism99/first-repository/blob/00568f245943827b312d88682c0e3aa9a3db19b3/MERGE/013.py</a:t>
            </a:r>
          </a:p>
          <a:p>
            <a:r>
              <a:t>소스 위치: L509–570, L696–709</a:t>
            </a:r>
          </a:p>
          <a:p>
            <a:r>
              <a:t>코드 기준 설명이며 VBA 원본과 생산 데이터 검증은 포함하지 않습니다.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코드 출처: https://github.com/msiism99/first-repository/blob/00568f245943827b312d88682c0e3aa9a3db19b3/MERGE/013.py</a:t>
            </a:r>
          </a:p>
          <a:p>
            <a:r>
              <a:t>소스 위치: L630–720</a:t>
            </a:r>
          </a:p>
          <a:p>
            <a:r>
              <a:t>코드 기준 설명이며 VBA 원본과 생산 데이터 검증은 포함하지 않습니다.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코드 출처: https://github.com/msiism99/first-repository/blob/00568f245943827b312d88682c0e3aa9a3db19b3/MERGE/013.py</a:t>
            </a:r>
          </a:p>
          <a:p>
            <a:r>
              <a:t>소스 위치: L223–239, L456–506</a:t>
            </a:r>
          </a:p>
          <a:p>
            <a:r>
              <a:t>코드 기준 설명이며 VBA 원본과 생산 데이터 검증은 포함하지 않습니다.</a:t>
            </a:r>
          </a:p>
          <a:p/>
          <a:p>
            <a:r>
              <a:t>Translation 확인용 합성 입력은 rx=ry=0인 측정행 8개, y=0.7 상수, 위와 같은 25개 평가점입니다. 한 방향 solver에 base_lambda_scale=100을 전달했으나 초기 G가 1 미만이므로 λ 탐색은 실행되지 않았습니다. 실제 ADI/OCO나 일반적인 공간 분포를 대표하는 데이터가 아니라 현재 제한의 동작을 확인하는 단순 반례입니다.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코드 출처: https://github.com/msiism99/first-repository/blob/00568f245943827b312d88682c0e3aa9a3db19b3/MERGE/013.py</a:t>
            </a:r>
          </a:p>
          <a:p>
            <a:r>
              <a:t>소스 위치: L586–722 / 합성 seed=16</a:t>
            </a:r>
          </a:p>
          <a:p>
            <a:r>
              <a:t>코드 기준 설명이며 VBA 원본과 생산 데이터 검증은 포함하지 않습니다.</a:t>
            </a:r>
          </a:p>
          <a:p/>
          <a:p>
            <a:r>
              <a:t>합성 입력 생성: numpy.random.default_rng(16), n=32; rx ~ Uniform(-6000,6000), ry ~ Uniform(-8000,8000); y=0.04+0.5*(rx/13000)^2-0.08*(ry/16500)+Normal(0,0.015). 평가점은 STEP_PITCH_X=26000, STEP_PITCH_Y=33000, CHIP_X_NUM=CHIP_Y_NUM=3의 corner/center 25개입니다. X 방향 CPE38을 사용했고 G-opt Type 1, F2F span preset, 기타 solver 기본값을 유지했습니다. 비교 조건은 (ridge=False,box=False), (True,False), (True,True)입니다. 수치는 입력 residual의 임의 단위이며 생산 성능을 의미하지 않습니다.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코드 출처: https://github.com/msiism99/first-repository/blob/00568f245943827b312d88682c0e3aa9a3db19b3/MERGE/013.py</a:t>
            </a:r>
          </a:p>
          <a:p>
            <a:r>
              <a:t>소스 위치: L696–720, L948–964</a:t>
            </a:r>
          </a:p>
          <a:p>
            <a:r>
              <a:t>코드 기준 설명이며 VBA 원본과 생산 데이터 검증은 포함하지 않습니다.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코드 출처: https://github.com/msiism99/first-repository/blob/00568f245943827b312d88682c0e3aa9a3db19b3/MERGE/013.py</a:t>
            </a:r>
          </a:p>
          <a:p>
            <a:r>
              <a:t>소스 위치: L750–767, L887–981, L1043–1047</a:t>
            </a:r>
          </a:p>
          <a:p>
            <a:r>
              <a:t>코드 기준 설명이며 VBA 원본과 생산 데이터 검증은 포함하지 않습니다.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코드 출처: https://github.com/msiism99/first-repository/blob/00568f245943827b312d88682c0e3aa9a3db19b3/MERGE/013.py</a:t>
            </a:r>
          </a:p>
          <a:p>
            <a:r>
              <a:t>소스 위치: 012.py L333–372 / 013.py L905–981</a:t>
            </a:r>
          </a:p>
          <a:p>
            <a:r>
              <a:t>코드 기준 설명이며 VBA 원본과 생산 데이터 검증은 포함하지 않습니다.</a:t>
            </a:r>
          </a:p>
          <a:p>
            <a:r>
              <a:t>Wafer WK/RK 단계 출처: https://github.com/msiism99/first-repository/blob/00568f245943827b312d88682c0e3aa9a3db19b3/MERGE/012.py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코드 출처: https://github.com/msiism99/first-repository/blob/00568f245943827b312d88682c0e3aa9a3db19b3/MERGE/013.py</a:t>
            </a:r>
          </a:p>
          <a:p>
            <a:r>
              <a:t>소스 위치: L30–45, L406–570, L623–722</a:t>
            </a:r>
          </a:p>
          <a:p>
            <a:r>
              <a:t>코드 기준 설명이며 VBA 원본과 생산 데이터 검증은 포함하지 않습니다.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코드 출처: https://github.com/msiism99/first-repository/blob/00568f245943827b312d88682c0e3aa9a3db19b3/MERGE/013.py</a:t>
            </a:r>
          </a:p>
          <a:p>
            <a:r>
              <a:t>소스 위치: L52–191, L223–239</a:t>
            </a:r>
          </a:p>
          <a:p>
            <a:r>
              <a:t>코드 기준 설명이며 VBA 원본과 생산 데이터 검증은 포함하지 않습니다.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코드 출처: https://github.com/msiism99/first-repository/blob/00568f245943827b312d88682c0e3aa9a3db19b3/MERGE/013.py</a:t>
            </a:r>
          </a:p>
          <a:p>
            <a:r>
              <a:t>소스 위치: L52–191, L223–239</a:t>
            </a:r>
          </a:p>
          <a:p>
            <a:r>
              <a:t>코드 기준 설명이며 VBA 원본과 생산 데이터 검증은 포함하지 않습니다.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코드 출처: https://github.com/msiism99/first-repository/blob/00568f245943827b312d88682c0e3aa9a3db19b3/MERGE/013.py</a:t>
            </a:r>
          </a:p>
          <a:p>
            <a:r>
              <a:t>소스 위치: L52–191, L223–239</a:t>
            </a:r>
          </a:p>
          <a:p>
            <a:r>
              <a:t>코드 기준 설명이며 VBA 원본과 생산 데이터 검증은 포함하지 않습니다.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코드 출처: https://github.com/msiism99/first-repository/blob/00568f245943827b312d88682c0e3aa9a3db19b3/MERGE/013.py</a:t>
            </a:r>
          </a:p>
          <a:p>
            <a:r>
              <a:t>소스 위치: L52–191, L223–239</a:t>
            </a:r>
          </a:p>
          <a:p>
            <a:r>
              <a:t>코드 기준 설명이며 VBA 원본과 생산 데이터 검증은 포함하지 않습니다.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코드 출처: https://github.com/msiism99/first-repository/blob/00568f245943827b312d88682c0e3aa9a3db19b3/MERGE/013.py</a:t>
            </a:r>
          </a:p>
          <a:p>
            <a:r>
              <a:t>소스 위치: L429–451</a:t>
            </a:r>
          </a:p>
          <a:p>
            <a:r>
              <a:t>코드 기준 설명이며 VBA 원본과 생산 데이터 검증은 포함하지 않습니다.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코드 출처: https://github.com/msiism99/first-repository/blob/00568f245943827b312d88682c0e3aa9a3db19b3/MERGE/013.py</a:t>
            </a:r>
          </a:p>
          <a:p>
            <a:r>
              <a:t>소스 위치: L52–981</a:t>
            </a:r>
          </a:p>
          <a:p>
            <a:r>
              <a:t>코드 기준 설명이며 VBA 원본과 생산 데이터 검증은 포함하지 않습니다.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D8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060704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000" b="1">
                <a:solidFill>
                  <a:srgbClr val="0D8F9F"/>
                </a:solidFill>
                <a:latin typeface="Noto Sans CJK KR"/>
              </a:defRPr>
            </a:pPr>
            <a:r>
              <a:rPr>
                <a:ea typeface="Noto Sans CJK KR"/>
              </a:rPr>
              <a:t>CODE-BASED TECHNICAL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52120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2800" b="1">
                <a:solidFill>
                  <a:srgbClr val="12263D"/>
                </a:solidFill>
                <a:latin typeface="Noto Sans CJK KR"/>
              </a:defRPr>
            </a:pPr>
            <a:r>
              <a:rPr>
                <a:ea typeface="Noto Sans CJK KR"/>
              </a:rPr>
              <a:t>CPE38 회귀의 실제 동작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243584"/>
            <a:ext cx="11018520" cy="3474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200" b="0">
                <a:solidFill>
                  <a:srgbClr val="63798D"/>
                </a:solidFill>
                <a:latin typeface="Noto Sans CJK KR"/>
              </a:defRPr>
            </a:pPr>
            <a:r>
              <a:rPr>
                <a:ea typeface="Noto Sans CJK KR"/>
              </a:rPr>
              <a:t>Ridge · G-optimality · Span 제한 / ADI·OCO 분석을 위한 설명 자료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6473952"/>
            <a:ext cx="11018520" cy="10972"/>
          </a:xfrm>
          <a:prstGeom prst="rect">
            <a:avLst/>
          </a:prstGeom>
          <a:solidFill>
            <a:srgbClr val="D8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7" y="6547104"/>
            <a:ext cx="1065276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850" b="0">
                <a:solidFill>
                  <a:srgbClr val="63798D"/>
                </a:solidFill>
                <a:latin typeface="Noto Sans CJK KR"/>
              </a:defRPr>
            </a:pPr>
            <a:r>
              <a:rPr>
                <a:ea typeface="Noto Sans CJK KR"/>
              </a:rPr>
              <a:t>MERGE/013.py · L30–981   |   source 00568f2 · 2026.10.13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37960"/>
            <a:ext cx="393192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5000"/>
              </a:lnSpc>
              <a:spcAft>
                <a:spcPts val="500"/>
              </a:spcAft>
              <a:defRPr sz="1000" b="1">
                <a:solidFill>
                  <a:srgbClr val="0D8F9F"/>
                </a:solidFill>
                <a:latin typeface="Noto Sans CJK KR"/>
              </a:defRPr>
            </a:pPr>
            <a:r>
              <a:rPr>
                <a:ea typeface="Noto Sans CJK KR"/>
              </a:rPr>
              <a:t>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1207" y="1783080"/>
            <a:ext cx="11000232" cy="3566160"/>
          </a:xfrm>
          <a:prstGeom prst="roundRect">
            <a:avLst>
              <a:gd name="adj" fmla="val 12000"/>
            </a:avLst>
          </a:prstGeom>
          <a:solidFill>
            <a:srgbClr val="12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194560"/>
            <a:ext cx="8961120" cy="7772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2700" b="1">
                <a:solidFill>
                  <a:srgbClr val="FFFFFF"/>
                </a:solidFill>
                <a:latin typeface="Noto Sans CJK KR"/>
              </a:defRPr>
            </a:pPr>
            <a:r>
              <a:rPr>
                <a:ea typeface="Noto Sans CJK KR"/>
              </a:rPr>
              <a:t>측정 residual을 shot별 38개 RK 항으로 설명하고,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2700" b="1">
                <a:solidFill>
                  <a:srgbClr val="FFFFFF"/>
                </a:solidFill>
                <a:latin typeface="Noto Sans CJK KR"/>
              </a:defRPr>
            </a:pPr>
            <a:r>
              <a:rPr>
                <a:ea typeface="Noto Sans CJK KR"/>
              </a:rPr>
              <a:t>불안정한 예측과 과도한 항별 변동을 제어한다.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4096512"/>
            <a:ext cx="8046720" cy="6400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700" b="0">
                <a:solidFill>
                  <a:srgbClr val="D8E7F1"/>
                </a:solidFill>
                <a:latin typeface="Noto Sans CJK KR"/>
              </a:defRPr>
            </a:pPr>
            <a:r>
              <a:rPr>
                <a:ea typeface="Noto Sans CJK KR"/>
              </a:rPr>
              <a:t>기준 코드  MERGE/013.py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700" b="0">
                <a:solidFill>
                  <a:srgbClr val="D8E7F1"/>
                </a:solidFill>
                <a:latin typeface="Noto Sans CJK KR"/>
              </a:defRPr>
            </a:pPr>
            <a:r>
              <a:rPr>
                <a:ea typeface="Noto Sans CJK KR"/>
              </a:rPr>
              <a:t>소스 commit 00568f2  ·  설정값과 실행 분기를 모두 확인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0" y="3108960"/>
            <a:ext cx="1280160" cy="11430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6400" b="1">
                <a:solidFill>
                  <a:srgbClr val="14A3B8"/>
                </a:solidFill>
                <a:latin typeface="Noto Sans CJK KR"/>
              </a:defRPr>
            </a:pPr>
            <a:r>
              <a:rPr>
                <a:ea typeface="Noto Sans CJK KR"/>
              </a:rPr>
              <a:t>38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961888"/>
            <a:ext cx="10972800" cy="356616"/>
          </a:xfrm>
          <a:prstGeom prst="roundRect">
            <a:avLst>
              <a:gd name="adj" fmla="val 12000"/>
            </a:avLst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5984748"/>
            <a:ext cx="10652760" cy="28346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150" b="0">
                <a:solidFill>
                  <a:srgbClr val="D88325"/>
                </a:solidFill>
                <a:latin typeface="Noto Sans CJK KR"/>
              </a:defRPr>
            </a:pPr>
            <a:r>
              <a:rPr>
                <a:ea typeface="Noto Sans CJK KR"/>
              </a:rPr>
              <a:t>이번 자료는 설명·검토용입니다. WK/RK·CPE 제거 코드의 추가 구현은 다음 단계입니다.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D8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060704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000" b="1">
                <a:solidFill>
                  <a:srgbClr val="0D8F9F"/>
                </a:solidFill>
                <a:latin typeface="Noto Sans CJK KR"/>
              </a:defRPr>
            </a:pPr>
            <a:r>
              <a:rPr>
                <a:ea typeface="Noto Sans CJK KR"/>
              </a:rPr>
              <a:t>01 /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52120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2800" b="1">
                <a:solidFill>
                  <a:srgbClr val="12263D"/>
                </a:solidFill>
                <a:latin typeface="Noto Sans CJK KR"/>
              </a:defRPr>
            </a:pPr>
            <a:r>
              <a:rPr>
                <a:ea typeface="Noto Sans CJK KR"/>
              </a:rPr>
              <a:t>제어 대상은 서로 다르다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243584"/>
            <a:ext cx="11018520" cy="3474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200" b="0">
                <a:solidFill>
                  <a:srgbClr val="63798D"/>
                </a:solidFill>
                <a:latin typeface="Noto Sans CJK KR"/>
              </a:defRPr>
            </a:pPr>
            <a:r>
              <a:rPr>
                <a:ea typeface="Noto Sans CJK KR"/>
              </a:rPr>
              <a:t>세 기법의 역할을 구분하면 파라미터 해석과 수정 범위가 명확해집니다.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6473952"/>
            <a:ext cx="11018520" cy="10972"/>
          </a:xfrm>
          <a:prstGeom prst="rect">
            <a:avLst/>
          </a:prstGeom>
          <a:solidFill>
            <a:srgbClr val="D8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7" y="6547104"/>
            <a:ext cx="1065276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850" b="0">
                <a:solidFill>
                  <a:srgbClr val="63798D"/>
                </a:solidFill>
                <a:latin typeface="Noto Sans CJK KR"/>
              </a:defRPr>
            </a:pPr>
            <a:r>
              <a:rPr>
                <a:ea typeface="Noto Sans CJK KR"/>
              </a:rPr>
              <a:t>MERGE/013.py · L368–378, L406–570   |   source 00568f2 · 2026.10.13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37960"/>
            <a:ext cx="393192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5000"/>
              </a:lnSpc>
              <a:spcAft>
                <a:spcPts val="500"/>
              </a:spcAft>
              <a:defRPr sz="1000" b="1">
                <a:solidFill>
                  <a:srgbClr val="0D8F9F"/>
                </a:solidFill>
                <a:latin typeface="Noto Sans CJK KR"/>
              </a:defRPr>
            </a:pPr>
            <a:r>
              <a:rPr>
                <a:ea typeface="Noto Sans CJK KR"/>
              </a:rPr>
              <a:t>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47088"/>
            <a:ext cx="3529584" cy="3639312"/>
          </a:xfrm>
          <a:prstGeom prst="roundRect">
            <a:avLst>
              <a:gd name="adj" fmla="val 12000"/>
            </a:avLst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847088"/>
            <a:ext cx="50292" cy="3639312"/>
          </a:xfrm>
          <a:prstGeom prst="rect">
            <a:avLst/>
          </a:prstGeom>
          <a:solidFill>
            <a:srgbClr val="0D8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002536"/>
            <a:ext cx="3163824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900" b="1">
                <a:solidFill>
                  <a:srgbClr val="0D8F9F"/>
                </a:solidFill>
                <a:latin typeface="Noto Sans CJK KR"/>
              </a:defRPr>
            </a:pPr>
            <a:r>
              <a:rPr>
                <a:ea typeface="Noto Sans CJK KR"/>
              </a:rPr>
              <a:t>Ridge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523744"/>
            <a:ext cx="3163824" cy="28803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700" b="0">
                <a:solidFill>
                  <a:srgbClr val="22384D"/>
                </a:solidFill>
                <a:latin typeface="Noto Sans CJK KR"/>
              </a:defRPr>
            </a:pPr>
            <a:r>
              <a:rPr>
                <a:ea typeface="Noto Sans CJK KR"/>
              </a:rPr>
              <a:t>계수에 L2 penalty를 부여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700" b="0">
                <a:solidFill>
                  <a:srgbClr val="22384D"/>
                </a:solidFill>
                <a:latin typeface="Noto Sans CJK KR"/>
              </a:defRPr>
            </a:pPr>
          </a:p>
          <a:p>
            <a:pPr>
              <a:lnSpc>
                <a:spcPct val="105000"/>
              </a:lnSpc>
              <a:spcAft>
                <a:spcPts val="500"/>
              </a:spcAft>
              <a:defRPr sz="1700" b="0">
                <a:solidFill>
                  <a:srgbClr val="22384D"/>
                </a:solidFill>
                <a:latin typeface="Noto Sans CJK KR"/>
              </a:defRPr>
            </a:pPr>
            <a:r>
              <a:rPr>
                <a:ea typeface="Noto Sans CJK KR"/>
              </a:rPr>
              <a:t>다중공선성·점수 부족 상황에서 계수의 과도한 증폭을 완화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700" b="0">
                <a:solidFill>
                  <a:srgbClr val="22384D"/>
                </a:solidFill>
                <a:latin typeface="Noto Sans CJK KR"/>
              </a:defRPr>
            </a:pPr>
          </a:p>
          <a:p>
            <a:pPr>
              <a:lnSpc>
                <a:spcPct val="105000"/>
              </a:lnSpc>
              <a:spcAft>
                <a:spcPts val="500"/>
              </a:spcAft>
              <a:defRPr sz="1700" b="0">
                <a:solidFill>
                  <a:srgbClr val="22384D"/>
                </a:solidFill>
                <a:latin typeface="Noto Sans CJK KR"/>
              </a:defRPr>
            </a:pPr>
            <a:r>
              <a:rPr>
                <a:ea typeface="Noto Sans CJK KR"/>
              </a:rPr>
              <a:t>항별 valve로 penalty 강도 구분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25112" y="1847088"/>
            <a:ext cx="3529584" cy="3639312"/>
          </a:xfrm>
          <a:prstGeom prst="roundRect">
            <a:avLst>
              <a:gd name="adj" fmla="val 12000"/>
            </a:avLst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25112" y="1847088"/>
            <a:ext cx="50292" cy="3639312"/>
          </a:xfrm>
          <a:prstGeom prst="rect">
            <a:avLst/>
          </a:prstGeom>
          <a:solidFill>
            <a:srgbClr val="0D8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07992" y="2002536"/>
            <a:ext cx="3163824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900" b="1">
                <a:solidFill>
                  <a:srgbClr val="0D8F9F"/>
                </a:solidFill>
                <a:latin typeface="Noto Sans CJK KR"/>
              </a:defRPr>
            </a:pPr>
            <a:r>
              <a:rPr>
                <a:ea typeface="Noto Sans CJK KR"/>
              </a:rPr>
              <a:t>G-opt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07992" y="2523744"/>
            <a:ext cx="3163824" cy="28803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700" b="0">
                <a:solidFill>
                  <a:srgbClr val="22384D"/>
                </a:solidFill>
                <a:latin typeface="Noto Sans CJK KR"/>
              </a:defRPr>
            </a:pPr>
            <a:r>
              <a:rPr>
                <a:ea typeface="Noto Sans CJK KR"/>
              </a:rPr>
              <a:t>측정점 → 평가점의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700" b="0">
                <a:solidFill>
                  <a:srgbClr val="22384D"/>
                </a:solidFill>
                <a:latin typeface="Noto Sans CJK KR"/>
              </a:defRPr>
            </a:pPr>
            <a:r>
              <a:rPr>
                <a:ea typeface="Noto Sans CJK KR"/>
              </a:rPr>
              <a:t>예측 영향도를 계산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700" b="0">
                <a:solidFill>
                  <a:srgbClr val="22384D"/>
                </a:solidFill>
                <a:latin typeface="Noto Sans CJK KR"/>
              </a:defRPr>
            </a:pPr>
          </a:p>
          <a:p>
            <a:pPr>
              <a:lnSpc>
                <a:spcPct val="105000"/>
              </a:lnSpc>
              <a:spcAft>
                <a:spcPts val="500"/>
              </a:spcAft>
              <a:defRPr sz="1700" b="0">
                <a:solidFill>
                  <a:srgbClr val="22384D"/>
                </a:solidFill>
                <a:latin typeface="Noto Sans CJK KR"/>
              </a:defRPr>
            </a:pPr>
            <a:r>
              <a:rPr>
                <a:ea typeface="Noto Sans CJK KR"/>
              </a:rPr>
              <a:t>기준을 넘으면 λ를 조정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700" b="0">
                <a:solidFill>
                  <a:srgbClr val="22384D"/>
                </a:solidFill>
                <a:latin typeface="Noto Sans CJK KR"/>
              </a:defRPr>
            </a:pPr>
          </a:p>
          <a:p>
            <a:pPr>
              <a:lnSpc>
                <a:spcPct val="105000"/>
              </a:lnSpc>
              <a:spcAft>
                <a:spcPts val="500"/>
              </a:spcAft>
              <a:defRPr sz="1700" b="0">
                <a:solidFill>
                  <a:srgbClr val="22384D"/>
                </a:solidFill>
                <a:latin typeface="Noto Sans CJK KR"/>
              </a:defRPr>
            </a:pPr>
            <a:r>
              <a:rPr>
                <a:ea typeface="Noto Sans CJK KR"/>
              </a:rPr>
              <a:t>기본 Type 1은 최대 noise gain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01583" y="1847088"/>
            <a:ext cx="3419856" cy="3639312"/>
          </a:xfrm>
          <a:prstGeom prst="roundRect">
            <a:avLst>
              <a:gd name="adj" fmla="val 12000"/>
            </a:avLst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01583" y="1847088"/>
            <a:ext cx="50292" cy="3639312"/>
          </a:xfrm>
          <a:prstGeom prst="rect">
            <a:avLst/>
          </a:prstGeom>
          <a:solidFill>
            <a:srgbClr val="D88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84463" y="2002536"/>
            <a:ext cx="3054096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900" b="1">
                <a:solidFill>
                  <a:srgbClr val="D88325"/>
                </a:solidFill>
                <a:latin typeface="Noto Sans CJK KR"/>
              </a:defRPr>
            </a:pPr>
            <a:r>
              <a:rPr>
                <a:ea typeface="Noto Sans CJK KR"/>
              </a:rPr>
              <a:t>Span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4463" y="2523744"/>
            <a:ext cx="3054096" cy="28803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700" b="0">
                <a:solidFill>
                  <a:srgbClr val="22384D"/>
                </a:solidFill>
                <a:latin typeface="Noto Sans CJK KR"/>
              </a:defRPr>
            </a:pPr>
            <a:r>
              <a:rPr>
                <a:ea typeface="Noto Sans CJK KR"/>
              </a:rPr>
              <a:t>평가점에서 각 RK 항이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700" b="0">
                <a:solidFill>
                  <a:srgbClr val="22384D"/>
                </a:solidFill>
                <a:latin typeface="Noto Sans CJK KR"/>
              </a:defRPr>
            </a:pPr>
            <a:r>
              <a:rPr>
                <a:ea typeface="Noto Sans CJK KR"/>
              </a:rPr>
              <a:t>만드는 contribution의 범위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700" b="0">
                <a:solidFill>
                  <a:srgbClr val="22384D"/>
                </a:solidFill>
                <a:latin typeface="Noto Sans CJK KR"/>
              </a:defRPr>
            </a:pPr>
          </a:p>
          <a:p>
            <a:pPr>
              <a:lnSpc>
                <a:spcPct val="105000"/>
              </a:lnSpc>
              <a:spcAft>
                <a:spcPts val="500"/>
              </a:spcAft>
              <a:defRPr sz="1700" b="0">
                <a:solidFill>
                  <a:srgbClr val="22384D"/>
                </a:solidFill>
                <a:latin typeface="Noto Sans CJK KR"/>
              </a:defRPr>
            </a:pPr>
            <a:r>
              <a:rPr>
                <a:ea typeface="Noto Sans CJK KR"/>
              </a:rPr>
              <a:t>초과하면 계수 box bound를 만든 뒤 다시 최적화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961888"/>
            <a:ext cx="10972800" cy="356616"/>
          </a:xfrm>
          <a:prstGeom prst="roundRect">
            <a:avLst>
              <a:gd name="adj" fmla="val 12000"/>
            </a:avLst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4944" y="5984748"/>
            <a:ext cx="10652760" cy="28346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150" b="0">
                <a:solidFill>
                  <a:srgbClr val="D88325"/>
                </a:solidFill>
                <a:latin typeface="Noto Sans CJK KR"/>
              </a:defRPr>
            </a:pPr>
            <a:r>
              <a:rPr>
                <a:ea typeface="Noto Sans CJK KR"/>
              </a:rPr>
              <a:t>G-opt는 geometry·λ의 함수이고, span은 geometry·추정 β의 함수입니다.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D8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060704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000" b="1">
                <a:solidFill>
                  <a:srgbClr val="0D8F9F"/>
                </a:solidFill>
                <a:latin typeface="Noto Sans CJK KR"/>
              </a:defRPr>
            </a:pPr>
            <a:r>
              <a:rPr>
                <a:ea typeface="Noto Sans CJK KR"/>
              </a:rPr>
              <a:t>02 /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52120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2800" b="1">
                <a:solidFill>
                  <a:srgbClr val="12263D"/>
                </a:solidFill>
                <a:latin typeface="Noto Sans CJK KR"/>
              </a:defRPr>
            </a:pPr>
            <a:r>
              <a:rPr>
                <a:ea typeface="Noto Sans CJK KR"/>
              </a:rPr>
              <a:t>Wafer 공통 성분과 shot 성분을 구분해 저장한다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243584"/>
            <a:ext cx="11018520" cy="3474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200" b="0">
                <a:solidFill>
                  <a:srgbClr val="63798D"/>
                </a:solidFill>
                <a:latin typeface="Noto Sans CJK KR"/>
              </a:defRPr>
            </a:pPr>
            <a:r>
              <a:rPr>
                <a:ea typeface="Noto Sans CJK KR"/>
              </a:rPr>
              <a:t>아래 WK/RK 단계는 012.py, CPE38 단계는 013.py의 현재 연결 구조입니다.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6473952"/>
            <a:ext cx="11018520" cy="10972"/>
          </a:xfrm>
          <a:prstGeom prst="rect">
            <a:avLst/>
          </a:prstGeom>
          <a:solidFill>
            <a:srgbClr val="D8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7" y="6547104"/>
            <a:ext cx="1065276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850" b="0">
                <a:solidFill>
                  <a:srgbClr val="63798D"/>
                </a:solidFill>
                <a:latin typeface="Noto Sans CJK KR"/>
              </a:defRPr>
            </a:pPr>
            <a:r>
              <a:rPr>
                <a:ea typeface="Noto Sans CJK KR"/>
              </a:rPr>
              <a:t>MERGE/013.py · 012.py L215–366 / 013.py L730–905   |   source 00568f2 · 2026.10.13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37960"/>
            <a:ext cx="393192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5000"/>
              </a:lnSpc>
              <a:spcAft>
                <a:spcPts val="500"/>
              </a:spcAft>
              <a:defRPr sz="1000" b="1">
                <a:solidFill>
                  <a:srgbClr val="0D8F9F"/>
                </a:solidFill>
                <a:latin typeface="Noto Sans CJK KR"/>
              </a:defRPr>
            </a:pPr>
            <a:r>
              <a:rPr>
                <a:ea typeface="Noto Sans CJK KR"/>
              </a:rPr>
              <a:t>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956816"/>
            <a:ext cx="1984248" cy="1719072"/>
          </a:xfrm>
          <a:prstGeom prst="roundRect">
            <a:avLst>
              <a:gd name="adj" fmla="val 12000"/>
            </a:avLst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956816"/>
            <a:ext cx="50292" cy="1719072"/>
          </a:xfrm>
          <a:prstGeom prst="rect">
            <a:avLst/>
          </a:prstGeom>
          <a:solidFill>
            <a:srgbClr val="0D8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112264"/>
            <a:ext cx="1618488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900" b="1">
                <a:solidFill>
                  <a:srgbClr val="0D8F9F"/>
                </a:solidFill>
                <a:latin typeface="Noto Sans CJK KR"/>
              </a:defRPr>
            </a:pPr>
            <a:r>
              <a:rPr>
                <a:ea typeface="Noto Sans CJK KR"/>
              </a:rPr>
              <a:t>raw X/Y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633472"/>
            <a:ext cx="1618488" cy="960119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400" b="0">
                <a:solidFill>
                  <a:srgbClr val="22384D"/>
                </a:solidFill>
                <a:latin typeface="Noto Sans CJK KR"/>
              </a:defRPr>
            </a:pPr>
            <a:r>
              <a:rPr>
                <a:ea typeface="Noto Sans CJK KR"/>
              </a:rPr>
              <a:t>MRC·PSM decorrect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42032" y="2505456"/>
            <a:ext cx="228600" cy="4572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2300" b="1">
                <a:solidFill>
                  <a:srgbClr val="63798D"/>
                </a:solidFill>
                <a:latin typeface="Noto Sans CJK KR"/>
              </a:defRPr>
            </a:pPr>
            <a:r>
              <a:rPr>
                <a:ea typeface="Noto Sans CJK KR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70632" y="1956816"/>
            <a:ext cx="1984248" cy="1719072"/>
          </a:xfrm>
          <a:prstGeom prst="roundRect">
            <a:avLst>
              <a:gd name="adj" fmla="val 12000"/>
            </a:avLst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70632" y="1956816"/>
            <a:ext cx="50292" cy="1719072"/>
          </a:xfrm>
          <a:prstGeom prst="rect">
            <a:avLst/>
          </a:prstGeom>
          <a:solidFill>
            <a:srgbClr val="0D8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53512" y="2112264"/>
            <a:ext cx="1618488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900" b="1">
                <a:solidFill>
                  <a:srgbClr val="0D8F9F"/>
                </a:solidFill>
                <a:latin typeface="Noto Sans CJK KR"/>
              </a:defRPr>
            </a:pPr>
            <a:r>
              <a:rPr>
                <a:ea typeface="Noto Sans CJK KR"/>
              </a:rPr>
              <a:t>Wafer WK + 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53512" y="2633472"/>
            <a:ext cx="1618488" cy="960119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400" b="0">
                <a:solidFill>
                  <a:srgbClr val="22384D"/>
                </a:solidFill>
                <a:latin typeface="Noto Sans CJK KR"/>
              </a:defRPr>
            </a:pPr>
            <a:r>
              <a:rPr>
                <a:ea typeface="Noto Sans CJK KR"/>
              </a:rPr>
              <a:t>wafer별 동시 OLS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64024" y="2505456"/>
            <a:ext cx="228600" cy="4572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2300" b="1">
                <a:solidFill>
                  <a:srgbClr val="63798D"/>
                </a:solidFill>
                <a:latin typeface="Noto Sans CJK KR"/>
              </a:defRPr>
            </a:pPr>
            <a:r>
              <a:rPr>
                <a:ea typeface="Noto Sans CJK KR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992624" y="1956816"/>
            <a:ext cx="1984248" cy="1719072"/>
          </a:xfrm>
          <a:prstGeom prst="roundRect">
            <a:avLst>
              <a:gd name="adj" fmla="val 12000"/>
            </a:avLst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992624" y="1956816"/>
            <a:ext cx="50292" cy="1719072"/>
          </a:xfrm>
          <a:prstGeom prst="rect">
            <a:avLst/>
          </a:prstGeom>
          <a:solidFill>
            <a:srgbClr val="0D8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75504" y="2112264"/>
            <a:ext cx="1618488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900" b="1">
                <a:solidFill>
                  <a:srgbClr val="0D8F9F"/>
                </a:solidFill>
                <a:latin typeface="Noto Sans CJK KR"/>
              </a:defRPr>
            </a:pPr>
            <a:r>
              <a:rPr>
                <a:ea typeface="Noto Sans CJK KR"/>
              </a:rPr>
              <a:t>wafer residual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75504" y="2633472"/>
            <a:ext cx="1618488" cy="960119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400" b="0">
                <a:solidFill>
                  <a:srgbClr val="22384D"/>
                </a:solidFill>
                <a:latin typeface="Noto Sans CJK KR"/>
              </a:defRPr>
            </a:pPr>
            <a:r>
              <a:rPr>
                <a:ea typeface="Noto Sans CJK KR"/>
              </a:rPr>
              <a:t>raw − WK fit − RK fit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86016" y="2505456"/>
            <a:ext cx="228600" cy="4572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2300" b="1">
                <a:solidFill>
                  <a:srgbClr val="63798D"/>
                </a:solidFill>
                <a:latin typeface="Noto Sans CJK KR"/>
              </a:defRPr>
            </a:pPr>
            <a:r>
              <a:rPr>
                <a:ea typeface="Noto Sans CJK KR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14616" y="1956816"/>
            <a:ext cx="1984248" cy="1719072"/>
          </a:xfrm>
          <a:prstGeom prst="roundRect">
            <a:avLst>
              <a:gd name="adj" fmla="val 12000"/>
            </a:avLst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14616" y="1956816"/>
            <a:ext cx="50292" cy="1719072"/>
          </a:xfrm>
          <a:prstGeom prst="rect">
            <a:avLst/>
          </a:prstGeom>
          <a:solidFill>
            <a:srgbClr val="D88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97496" y="2112264"/>
            <a:ext cx="1618488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900" b="1">
                <a:solidFill>
                  <a:srgbClr val="D88325"/>
                </a:solidFill>
                <a:latin typeface="Noto Sans CJK KR"/>
              </a:defRPr>
            </a:pPr>
            <a:r>
              <a:rPr>
                <a:ea typeface="Noto Sans CJK KR"/>
              </a:rPr>
              <a:t>Shot CPE38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97496" y="2633472"/>
            <a:ext cx="1618488" cy="960119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400" b="0">
                <a:solidFill>
                  <a:srgbClr val="22384D"/>
                </a:solidFill>
                <a:latin typeface="Noto Sans CJK KR"/>
              </a:defRPr>
            </a:pPr>
            <a:r>
              <a:rPr>
                <a:ea typeface="Noto Sans CJK KR"/>
              </a:rPr>
              <a:t>shot별 X·Y 별도 fit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08008" y="2505456"/>
            <a:ext cx="228600" cy="4572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2300" b="1">
                <a:solidFill>
                  <a:srgbClr val="63798D"/>
                </a:solidFill>
                <a:latin typeface="Noto Sans CJK KR"/>
              </a:defRPr>
            </a:pPr>
            <a:r>
              <a:rPr>
                <a:ea typeface="Noto Sans CJK KR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436608" y="1956816"/>
            <a:ext cx="1984248" cy="1719072"/>
          </a:xfrm>
          <a:prstGeom prst="roundRect">
            <a:avLst>
              <a:gd name="adj" fmla="val 12000"/>
            </a:avLst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436608" y="1956816"/>
            <a:ext cx="50292" cy="1719072"/>
          </a:xfrm>
          <a:prstGeom prst="rect">
            <a:avLst/>
          </a:prstGeom>
          <a:solidFill>
            <a:srgbClr val="0D8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19488" y="2112264"/>
            <a:ext cx="1618488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900" b="1">
                <a:solidFill>
                  <a:srgbClr val="0D8F9F"/>
                </a:solidFill>
                <a:latin typeface="Noto Sans CJK KR"/>
              </a:defRPr>
            </a:pPr>
            <a:r>
              <a:rPr>
                <a:ea typeface="Noto Sans CJK KR"/>
              </a:rPr>
              <a:t>real residual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19488" y="2633472"/>
            <a:ext cx="1618488" cy="960119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400" b="0">
                <a:solidFill>
                  <a:srgbClr val="22384D"/>
                </a:solidFill>
                <a:latin typeface="Noto Sans CJK KR"/>
              </a:defRPr>
            </a:pPr>
            <a:r>
              <a:rPr>
                <a:ea typeface="Noto Sans CJK KR"/>
              </a:rPr>
              <a:t>wafer residual − CPE fit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4069080"/>
            <a:ext cx="5340096" cy="1389888"/>
          </a:xfrm>
          <a:prstGeom prst="roundRect">
            <a:avLst>
              <a:gd name="adj" fmla="val 12000"/>
            </a:avLst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8640" y="4069080"/>
            <a:ext cx="50292" cy="1389888"/>
          </a:xfrm>
          <a:prstGeom prst="rect">
            <a:avLst/>
          </a:prstGeom>
          <a:solidFill>
            <a:srgbClr val="0D8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4224528"/>
            <a:ext cx="4974336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900" b="1">
                <a:solidFill>
                  <a:srgbClr val="0D8F9F"/>
                </a:solidFill>
                <a:latin typeface="Noto Sans CJK KR"/>
              </a:defRPr>
            </a:pPr>
            <a:r>
              <a:rPr>
                <a:ea typeface="Noto Sans CJK KR"/>
              </a:rPr>
              <a:t>Wafer 계수 저장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4745736"/>
            <a:ext cx="4974336" cy="63093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500" b="0">
                <a:solidFill>
                  <a:srgbClr val="22384D"/>
                </a:solidFill>
                <a:latin typeface="Noto Sans CJK KR"/>
              </a:defRPr>
            </a:pPr>
            <a:r>
              <a:rPr>
                <a:ea typeface="Noto Sans CJK KR"/>
              </a:rPr>
              <a:t>key: ADI/OCO + LOT_ID + Wafer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500" b="0">
                <a:solidFill>
                  <a:srgbClr val="22384D"/>
                </a:solidFill>
                <a:latin typeface="Noto Sans CJK KR"/>
              </a:defRPr>
            </a:pPr>
            <a:r>
              <a:rPr>
                <a:ea typeface="Noto Sans CJK KR"/>
              </a:rPr>
              <a:t>WK와 wafer 공통 RK의 계수·제거된 fitting 값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35624" y="4069080"/>
            <a:ext cx="5385816" cy="1389888"/>
          </a:xfrm>
          <a:prstGeom prst="roundRect">
            <a:avLst>
              <a:gd name="adj" fmla="val 12000"/>
            </a:avLst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135624" y="4069080"/>
            <a:ext cx="50292" cy="1389888"/>
          </a:xfrm>
          <a:prstGeom prst="rect">
            <a:avLst/>
          </a:prstGeom>
          <a:solidFill>
            <a:srgbClr val="D88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18504" y="4224528"/>
            <a:ext cx="5020055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900" b="1">
                <a:solidFill>
                  <a:srgbClr val="D88325"/>
                </a:solidFill>
                <a:latin typeface="Noto Sans CJK KR"/>
              </a:defRPr>
            </a:pPr>
            <a:r>
              <a:rPr>
                <a:ea typeface="Noto Sans CJK KR"/>
              </a:rPr>
              <a:t>Shot 계수 저장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18504" y="4745736"/>
            <a:ext cx="5020055" cy="63093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500" b="0">
                <a:solidFill>
                  <a:srgbClr val="22384D"/>
                </a:solidFill>
                <a:latin typeface="Noto Sans CJK KR"/>
              </a:defRPr>
            </a:pPr>
            <a:r>
              <a:rPr>
                <a:ea typeface="Noto Sans CJK KR"/>
              </a:rPr>
              <a:t>key: ADI/OCO + LOT_ID + Wafer + fcp_x/y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500" b="0">
                <a:solidFill>
                  <a:srgbClr val="22384D"/>
                </a:solidFill>
                <a:latin typeface="Noto Sans CJK KR"/>
              </a:defRPr>
            </a:pPr>
            <a:r>
              <a:rPr>
                <a:ea typeface="Noto Sans CJK KR"/>
              </a:rPr>
              <a:t>CPE RK 38개와 fitting·제약 진단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48640" y="5961888"/>
            <a:ext cx="10972800" cy="356616"/>
          </a:xfrm>
          <a:prstGeom prst="roundRect">
            <a:avLst>
              <a:gd name="adj" fmla="val 12000"/>
            </a:avLst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94944" y="5984748"/>
            <a:ext cx="10652760" cy="28346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150" b="0">
                <a:solidFill>
                  <a:srgbClr val="D88325"/>
                </a:solidFill>
                <a:latin typeface="Noto Sans CJK KR"/>
              </a:defRPr>
            </a:pPr>
            <a:r>
              <a:rPr>
                <a:ea typeface="Noto Sans CJK KR"/>
              </a:rPr>
              <a:t>두 단계의 RK3 등 이름은 같아도 추정 단위가 다릅니다. 저장 시 stage를 함께 구분해야 합니다.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D8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060704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000" b="1">
                <a:solidFill>
                  <a:srgbClr val="0D8F9F"/>
                </a:solidFill>
                <a:latin typeface="Noto Sans CJK KR"/>
              </a:defRPr>
            </a:pPr>
            <a:r>
              <a:rPr>
                <a:ea typeface="Noto Sans CJK KR"/>
              </a:rPr>
              <a:t>03 / DEFAULTS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52120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2800" b="1">
                <a:solidFill>
                  <a:srgbClr val="12263D"/>
                </a:solidFill>
                <a:latin typeface="Noto Sans CJK KR"/>
              </a:defRPr>
            </a:pPr>
            <a:r>
              <a:rPr>
                <a:ea typeface="Noto Sans CJK KR"/>
              </a:rPr>
              <a:t>현재 기본값: 모델·평가 조건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243584"/>
            <a:ext cx="11018520" cy="3474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200" b="0">
                <a:solidFill>
                  <a:srgbClr val="63798D"/>
                </a:solidFill>
                <a:latin typeface="Noto Sans CJK KR"/>
              </a:defRPr>
            </a:pPr>
            <a:r>
              <a:rPr>
                <a:ea typeface="Noto Sans CJK KR"/>
              </a:rPr>
              <a:t>기본 실행은 ADI와 OCO에 같은 설정을 각각 적용합니다.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6473952"/>
            <a:ext cx="11018520" cy="10972"/>
          </a:xfrm>
          <a:prstGeom prst="rect">
            <a:avLst/>
          </a:prstGeom>
          <a:solidFill>
            <a:srgbClr val="D8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7" y="6547104"/>
            <a:ext cx="1065276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850" b="0">
                <a:solidFill>
                  <a:srgbClr val="63798D"/>
                </a:solidFill>
                <a:latin typeface="Noto Sans CJK KR"/>
              </a:defRPr>
            </a:pPr>
            <a:r>
              <a:rPr>
                <a:ea typeface="Noto Sans CJK KR"/>
              </a:rPr>
              <a:t>MERGE/013.py · L30–45, L730–748   |   source 00568f2 · 2026.10.13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37960"/>
            <a:ext cx="393192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5000"/>
              </a:lnSpc>
              <a:spcAft>
                <a:spcPts val="500"/>
              </a:spcAft>
              <a:defRPr sz="1000" b="1">
                <a:solidFill>
                  <a:srgbClr val="0D8F9F"/>
                </a:solidFill>
                <a:latin typeface="Noto Sans CJK KR"/>
              </a:defRPr>
            </a:pPr>
            <a:r>
              <a:rPr>
                <a:ea typeface="Noto Sans CJK KR"/>
              </a:rPr>
              <a:t>04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773936"/>
          <a:ext cx="10972800" cy="4041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18688"/>
                <a:gridCol w="2267712"/>
                <a:gridCol w="5486400"/>
              </a:tblGrid>
              <a:tr h="449072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450" b="1">
                          <a:solidFill>
                            <a:srgbClr val="FFFFFF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설정</a:t>
                      </a:r>
                    </a:p>
                  </a:txBody>
                  <a:tcPr marL="118872" marR="91440" marT="36576" marB="22860" anchor="ctr">
                    <a:solidFill>
                      <a:srgbClr val="1226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450" b="1">
                          <a:solidFill>
                            <a:srgbClr val="FFFFFF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현재 값</a:t>
                      </a:r>
                    </a:p>
                  </a:txBody>
                  <a:tcPr marL="118872" marR="91440" marT="36576" marB="22860" anchor="ctr">
                    <a:solidFill>
                      <a:srgbClr val="1226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450" b="1">
                          <a:solidFill>
                            <a:srgbClr val="FFFFFF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실제 역할</a:t>
                      </a:r>
                    </a:p>
                  </a:txBody>
                  <a:tcPr marL="118872" marR="91440" marT="36576" marB="22860" anchor="ctr">
                    <a:solidFill>
                      <a:srgbClr val="12263D"/>
                    </a:solidFill>
                  </a:tcPr>
                </a:tc>
              </a:tr>
              <a:tr h="449072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4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RIDGE_REGRESSION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4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True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4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G-opt에 따른 λ 조정과 span CD 분기를 활성화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</a:tr>
              <a:tr h="449072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4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G_OPTIMAL_TYPE</a:t>
                      </a:r>
                    </a:p>
                  </a:txBody>
                  <a:tcPr marL="118872" marR="91440" marT="36576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4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1</a:t>
                      </a:r>
                    </a:p>
                  </a:txBody>
                  <a:tcPr marL="118872" marR="91440" marT="36576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4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전체 shot에 Type 1 적용</a:t>
                      </a:r>
                    </a:p>
                  </a:txBody>
                  <a:tcPr marL="118872" marR="91440" marT="36576" marB="22860" anchor="ctr">
                    <a:solidFill>
                      <a:srgbClr val="FFFFFF"/>
                    </a:solidFill>
                  </a:tcPr>
                </a:tc>
              </a:tr>
              <a:tr h="449072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4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SPAN_MODE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4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OVO3_38P_F2F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4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F2F contribution-span preset 사용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</a:tr>
              <a:tr h="449072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4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USE_VIRTUAL_CHIP_POINTS</a:t>
                      </a:r>
                    </a:p>
                  </a:txBody>
                  <a:tcPr marL="118872" marR="91440" marT="36576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4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True</a:t>
                      </a:r>
                    </a:p>
                  </a:txBody>
                  <a:tcPr marL="118872" marR="91440" marT="36576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4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chip의 4 corner + center를 평가점으로 생성</a:t>
                      </a:r>
                    </a:p>
                  </a:txBody>
                  <a:tcPr marL="118872" marR="91440" marT="36576" marB="22860" anchor="ctr">
                    <a:solidFill>
                      <a:srgbClr val="FFFFFF"/>
                    </a:solidFill>
                  </a:tcPr>
                </a:tc>
              </a:tr>
              <a:tr h="449072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4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VIRTUAL_WAFER_RADIUS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4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144000.0 µm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4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평가점의 wafer 좌표로 radius clipping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</a:tr>
              <a:tr h="449072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4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CPE_EVAL_GRID_N</a:t>
                      </a:r>
                    </a:p>
                  </a:txBody>
                  <a:tcPr marL="118872" marR="91440" marT="36576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4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10</a:t>
                      </a:r>
                    </a:p>
                  </a:txBody>
                  <a:tcPr marL="118872" marR="91440" marT="36576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4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대체 grid: 10 × 10 = 100점</a:t>
                      </a:r>
                    </a:p>
                  </a:txBody>
                  <a:tcPr marL="118872" marR="91440" marT="36576" marB="22860" anchor="ctr">
                    <a:solidFill>
                      <a:srgbClr val="FFFFFF"/>
                    </a:solidFill>
                  </a:tcPr>
                </a:tc>
              </a:tr>
              <a:tr h="449072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4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MIN_POINTS_GUIDE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4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10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4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few_points_flag 기준; 최소 실행 점수는 아님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</a:tr>
              <a:tr h="449072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4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USE_SPAN_BOX_CONSTRAINT</a:t>
                      </a:r>
                    </a:p>
                  </a:txBody>
                  <a:tcPr marL="118872" marR="91440" marT="36576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4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True</a:t>
                      </a:r>
                    </a:p>
                  </a:txBody>
                  <a:tcPr marL="118872" marR="91440" marT="36576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4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span 위반 시 bounded CD 실행</a:t>
                      </a:r>
                    </a:p>
                  </a:txBody>
                  <a:tcPr marL="118872" marR="91440" marT="36576" marB="2286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48640" y="5961888"/>
            <a:ext cx="10972800" cy="356616"/>
          </a:xfrm>
          <a:prstGeom prst="roundRect">
            <a:avLst>
              <a:gd name="adj" fmla="val 12000"/>
            </a:avLst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5984748"/>
            <a:ext cx="10652760" cy="28346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150" b="0">
                <a:solidFill>
                  <a:srgbClr val="D88325"/>
                </a:solidFill>
                <a:latin typeface="Noto Sans CJK KR"/>
              </a:defRPr>
            </a:pPr>
            <a:r>
              <a:rPr>
                <a:ea typeface="Noto Sans CJK KR"/>
              </a:rPr>
              <a:t>013.py는 residual과 span 값의 nm/µm 환산을 하지 않습니다. 실제 업무 단위는 입력 데이터와 대조해야 합니다.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D8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060704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000" b="1">
                <a:solidFill>
                  <a:srgbClr val="0D8F9F"/>
                </a:solidFill>
                <a:latin typeface="Noto Sans CJK KR"/>
              </a:defRPr>
            </a:pPr>
            <a:r>
              <a:rPr>
                <a:ea typeface="Noto Sans CJK KR"/>
              </a:rPr>
              <a:t>03 / DEFAULTS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52120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2800" b="1">
                <a:solidFill>
                  <a:srgbClr val="12263D"/>
                </a:solidFill>
                <a:latin typeface="Noto Sans CJK KR"/>
              </a:defRPr>
            </a:pPr>
            <a:r>
              <a:rPr>
                <a:ea typeface="Noto Sans CJK KR"/>
              </a:rPr>
              <a:t>현재 기본값: 탐색·수렴 조건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243584"/>
            <a:ext cx="11018520" cy="3474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200" b="0">
                <a:solidFill>
                  <a:srgbClr val="63798D"/>
                </a:solidFill>
                <a:latin typeface="Noto Sans CJK KR"/>
              </a:defRPr>
            </a:pPr>
            <a:r>
              <a:rPr>
                <a:ea typeface="Noto Sans CJK KR"/>
              </a:rPr>
              <a:t>G-opt 탐색과 span 최적화는 별도의 종료 조건을 사용합니다.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6473952"/>
            <a:ext cx="11018520" cy="10972"/>
          </a:xfrm>
          <a:prstGeom prst="rect">
            <a:avLst/>
          </a:prstGeom>
          <a:solidFill>
            <a:srgbClr val="D8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7" y="6547104"/>
            <a:ext cx="1065276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850" b="0">
                <a:solidFill>
                  <a:srgbClr val="63798D"/>
                </a:solidFill>
                <a:latin typeface="Noto Sans CJK KR"/>
              </a:defRPr>
            </a:pPr>
            <a:r>
              <a:rPr>
                <a:ea typeface="Noto Sans CJK KR"/>
              </a:rPr>
              <a:t>MERGE/013.py · L33–40, L586–722   |   source 00568f2 · 2026.10.13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37960"/>
            <a:ext cx="393192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5000"/>
              </a:lnSpc>
              <a:spcAft>
                <a:spcPts val="500"/>
              </a:spcAft>
              <a:defRPr sz="1000" b="1">
                <a:solidFill>
                  <a:srgbClr val="0D8F9F"/>
                </a:solidFill>
                <a:latin typeface="Noto Sans CJK KR"/>
              </a:defRPr>
            </a:pPr>
            <a:r>
              <a:rPr>
                <a:ea typeface="Noto Sans CJK KR"/>
              </a:rPr>
              <a:t>05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773936"/>
          <a:ext cx="10972800" cy="40050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18688"/>
                <a:gridCol w="2267712"/>
                <a:gridCol w="5486400"/>
              </a:tblGrid>
              <a:tr h="445008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450" b="1">
                          <a:solidFill>
                            <a:srgbClr val="FFFFFF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설정</a:t>
                      </a:r>
                    </a:p>
                  </a:txBody>
                  <a:tcPr marL="118872" marR="91440" marT="36576" marB="22860" anchor="ctr">
                    <a:solidFill>
                      <a:srgbClr val="1226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450" b="1">
                          <a:solidFill>
                            <a:srgbClr val="FFFFFF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현재 값</a:t>
                      </a:r>
                    </a:p>
                  </a:txBody>
                  <a:tcPr marL="118872" marR="91440" marT="36576" marB="22860" anchor="ctr">
                    <a:solidFill>
                      <a:srgbClr val="1226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450" b="1">
                          <a:solidFill>
                            <a:srgbClr val="FFFFFF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실제 적용</a:t>
                      </a:r>
                    </a:p>
                  </a:txBody>
                  <a:tcPr marL="118872" marR="91440" marT="36576" marB="22860" anchor="ctr">
                    <a:solidFill>
                      <a:srgbClr val="12263D"/>
                    </a:solidFill>
                  </a:tcPr>
                </a:tc>
              </a:tr>
              <a:tr h="445008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4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G_OPT_SPEC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4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1.0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4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g &lt; 1.0인 λ를 찾음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</a:tr>
              <a:tr h="445008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4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G_OPT_TOLERANCE</a:t>
                      </a:r>
                    </a:p>
                  </a:txBody>
                  <a:tcPr marL="118872" marR="91440" marT="36576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4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0.001</a:t>
                      </a:r>
                    </a:p>
                  </a:txBody>
                  <a:tcPr marL="118872" marR="91440" marT="36576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4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refine 목표 구간 [0.999, 1.0)</a:t>
                      </a:r>
                    </a:p>
                  </a:txBody>
                  <a:tcPr marL="118872" marR="91440" marT="36576" marB="22860" anchor="ctr">
                    <a:solidFill>
                      <a:srgbClr val="FFFFFF"/>
                    </a:solidFill>
                  </a:tcPr>
                </a:tc>
              </a:tr>
              <a:tr h="445008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4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MINIMUM_RIDGE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4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0.001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4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fast 탐색의 첫 양의 λ 기준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</a:tr>
              <a:tr h="445008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4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ADD_RIDGE</a:t>
                      </a:r>
                    </a:p>
                  </a:txBody>
                  <a:tcPr marL="118872" marR="91440" marT="36576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4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10.0</a:t>
                      </a:r>
                    </a:p>
                  </a:txBody>
                  <a:tcPr marL="118872" marR="91440" marT="36576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4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fast 탐색: λ를 10배씩 증가</a:t>
                      </a:r>
                    </a:p>
                  </a:txBody>
                  <a:tcPr marL="118872" marR="91440" marT="36576" marB="22860" anchor="ctr">
                    <a:solidFill>
                      <a:srgbClr val="FFFFFF"/>
                    </a:solidFill>
                  </a:tcPr>
                </a:tc>
              </a:tr>
              <a:tr h="445008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4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MAX_GOPT_RETURN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4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50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4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fast / refine 각각 최대 50회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</a:tr>
              <a:tr h="445008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4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SPAN_TOLERANCE</a:t>
                      </a:r>
                    </a:p>
                  </a:txBody>
                  <a:tcPr marL="118872" marR="91440" marT="36576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4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0.01</a:t>
                      </a:r>
                    </a:p>
                  </a:txBody>
                  <a:tcPr marL="118872" marR="91440" marT="36576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4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span 위반 판정에 절대값 여유 추가</a:t>
                      </a:r>
                    </a:p>
                  </a:txBody>
                  <a:tcPr marL="118872" marR="91440" marT="36576" marB="22860" anchor="ctr">
                    <a:solidFill>
                      <a:srgbClr val="FFFFFF"/>
                    </a:solidFill>
                  </a:tcPr>
                </a:tc>
              </a:tr>
              <a:tr h="445008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4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MAX_SPAN_ITER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4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5000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4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coordinate descent 최대 sweep 수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</a:tr>
              <a:tr h="445008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4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CD_TOL</a:t>
                      </a:r>
                    </a:p>
                  </a:txBody>
                  <a:tcPr marL="118872" marR="91440" marT="36576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4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1e-6</a:t>
                      </a:r>
                    </a:p>
                  </a:txBody>
                  <a:tcPr marL="118872" marR="91440" marT="36576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4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한 sweep의 max |Δβ|가 이 값 미만이면 종료</a:t>
                      </a:r>
                    </a:p>
                  </a:txBody>
                  <a:tcPr marL="118872" marR="91440" marT="36576" marB="2286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48640" y="5961888"/>
            <a:ext cx="10972800" cy="356616"/>
          </a:xfrm>
          <a:prstGeom prst="roundRect">
            <a:avLst>
              <a:gd name="adj" fmla="val 12000"/>
            </a:avLst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5984748"/>
            <a:ext cx="10652760" cy="28346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150" b="0">
                <a:solidFill>
                  <a:srgbClr val="D88325"/>
                </a:solidFill>
                <a:latin typeface="Noto Sans CJK KR"/>
              </a:defRPr>
            </a:pPr>
            <a:r>
              <a:rPr>
                <a:ea typeface="Noto Sans CJK KR"/>
              </a:rPr>
              <a:t>MINIMUM_RIDGE는 최종 λ의 하한을 보장하지 않습니다. 이분탐색이 더 작은 λ를 선택할 수 있습니다.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D8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060704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000" b="1">
                <a:solidFill>
                  <a:srgbClr val="0D8F9F"/>
                </a:solidFill>
                <a:latin typeface="Noto Sans CJK KR"/>
              </a:defRPr>
            </a:pPr>
            <a:r>
              <a:rPr>
                <a:ea typeface="Noto Sans CJK KR"/>
              </a:rPr>
              <a:t>04 / INPUT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52120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2800" b="1">
                <a:solidFill>
                  <a:srgbClr val="12263D"/>
                </a:solidFill>
                <a:latin typeface="Noto Sans CJK KR"/>
              </a:defRPr>
            </a:pPr>
            <a:r>
              <a:rPr>
                <a:ea typeface="Noto Sans CJK KR"/>
              </a:rPr>
              <a:t>Shot grouping과 유효 측정점 선택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243584"/>
            <a:ext cx="11018520" cy="3474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200" b="0">
                <a:solidFill>
                  <a:srgbClr val="63798D"/>
                </a:solidFill>
                <a:latin typeface="Noto Sans CJK KR"/>
              </a:defRPr>
            </a:pPr>
            <a:r>
              <a:rPr>
                <a:ea typeface="Noto Sans CJK KR"/>
              </a:rPr>
              <a:t>X·Y 방향은 각각 fit하지만 유효행 선택은 두 방향을 함께 사용합니다.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6473952"/>
            <a:ext cx="11018520" cy="10972"/>
          </a:xfrm>
          <a:prstGeom prst="rect">
            <a:avLst/>
          </a:prstGeom>
          <a:solidFill>
            <a:srgbClr val="D8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7" y="6547104"/>
            <a:ext cx="1065276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850" b="0">
                <a:solidFill>
                  <a:srgbClr val="63798D"/>
                </a:solidFill>
                <a:latin typeface="Noto Sans CJK KR"/>
              </a:defRPr>
            </a:pPr>
            <a:r>
              <a:rPr>
                <a:ea typeface="Noto Sans CJK KR"/>
              </a:rPr>
              <a:t>MERGE/013.py · L730–813   |   source 00568f2 · 2026.10.13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37960"/>
            <a:ext cx="393192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5000"/>
              </a:lnSpc>
              <a:spcAft>
                <a:spcPts val="500"/>
              </a:spcAft>
              <a:defRPr sz="1000" b="1">
                <a:solidFill>
                  <a:srgbClr val="0D8F9F"/>
                </a:solidFill>
                <a:latin typeface="Noto Sans CJK KR"/>
              </a:defRPr>
            </a:pPr>
            <a:r>
              <a:rPr>
                <a:ea typeface="Noto Sans CJK KR"/>
              </a:rPr>
              <a:t>06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19656"/>
            <a:ext cx="5312664" cy="3648456"/>
          </a:xfrm>
          <a:prstGeom prst="roundRect">
            <a:avLst>
              <a:gd name="adj" fmla="val 12000"/>
            </a:avLst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819656"/>
            <a:ext cx="50292" cy="3648456"/>
          </a:xfrm>
          <a:prstGeom prst="rect">
            <a:avLst/>
          </a:prstGeom>
          <a:solidFill>
            <a:srgbClr val="0D8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975104"/>
            <a:ext cx="4946903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900" b="1">
                <a:solidFill>
                  <a:srgbClr val="0D8F9F"/>
                </a:solidFill>
                <a:latin typeface="Noto Sans CJK KR"/>
              </a:defRPr>
            </a:pPr>
            <a:r>
              <a:rPr>
                <a:ea typeface="Noto Sans CJK KR"/>
              </a:rPr>
              <a:t>분석 단위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496312"/>
            <a:ext cx="4946903" cy="288950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700" b="0">
                <a:solidFill>
                  <a:srgbClr val="22384D"/>
                </a:solidFill>
                <a:latin typeface="Noto Sans CJK KR"/>
              </a:defRPr>
            </a:pPr>
            <a:r>
              <a:rPr>
                <a:ea typeface="Noto Sans CJK KR"/>
              </a:rPr>
              <a:t>LOT_ID + Wafer + fcp_x + fcp_y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700" b="0">
                <a:solidFill>
                  <a:srgbClr val="22384D"/>
                </a:solidFill>
                <a:latin typeface="Noto Sans CJK KR"/>
              </a:defRPr>
            </a:pPr>
          </a:p>
          <a:p>
            <a:pPr>
              <a:lnSpc>
                <a:spcPct val="105000"/>
              </a:lnSpc>
              <a:spcAft>
                <a:spcPts val="500"/>
              </a:spcAft>
              <a:defRPr sz="1700" b="0">
                <a:solidFill>
                  <a:srgbClr val="22384D"/>
                </a:solidFill>
                <a:latin typeface="Noto Sans CJK KR"/>
              </a:defRPr>
            </a:pPr>
            <a:r>
              <a:rPr>
                <a:ea typeface="Noto Sans CJK KR"/>
              </a:rPr>
              <a:t>입력 좌표: coordinate_X/Y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700" b="0">
                <a:solidFill>
                  <a:srgbClr val="22384D"/>
                </a:solidFill>
                <a:latin typeface="Noto Sans CJK KR"/>
              </a:defRPr>
            </a:pPr>
            <a:r>
              <a:rPr>
                <a:ea typeface="Noto Sans CJK KR"/>
              </a:rPr>
              <a:t>입력 residual: raw_minus_total_fit_x/y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700" b="0">
                <a:solidFill>
                  <a:srgbClr val="22384D"/>
                </a:solidFill>
                <a:latin typeface="Noto Sans CJK KR"/>
              </a:defRPr>
            </a:pPr>
          </a:p>
          <a:p>
            <a:pPr>
              <a:lnSpc>
                <a:spcPct val="105000"/>
              </a:lnSpc>
              <a:spcAft>
                <a:spcPts val="500"/>
              </a:spcAft>
              <a:defRPr sz="1700" b="0">
                <a:solidFill>
                  <a:srgbClr val="22384D"/>
                </a:solidFill>
                <a:latin typeface="Noto Sans CJK KR"/>
              </a:defRPr>
            </a:pPr>
            <a:r>
              <a:rPr>
                <a:ea typeface="Noto Sans CJK KR"/>
              </a:rPr>
              <a:t>X 방향 21개 항 / Y 방향 17개 항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819656"/>
            <a:ext cx="5394960" cy="3648456"/>
          </a:xfrm>
          <a:prstGeom prst="roundRect">
            <a:avLst>
              <a:gd name="adj" fmla="val 12000"/>
            </a:avLst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26480" y="1819656"/>
            <a:ext cx="50292" cy="3648456"/>
          </a:xfrm>
          <a:prstGeom prst="rect">
            <a:avLst/>
          </a:prstGeom>
          <a:solidFill>
            <a:srgbClr val="D88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1975104"/>
            <a:ext cx="50292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900" b="1">
                <a:solidFill>
                  <a:srgbClr val="D88325"/>
                </a:solidFill>
                <a:latin typeface="Noto Sans CJK KR"/>
              </a:defRPr>
            </a:pPr>
            <a:r>
              <a:rPr>
                <a:ea typeface="Noto Sans CJK KR"/>
              </a:rPr>
              <a:t>유효행 조건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496312"/>
            <a:ext cx="5029200" cy="288950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700" b="0">
                <a:solidFill>
                  <a:srgbClr val="22384D"/>
                </a:solidFill>
                <a:latin typeface="Noto Sans CJK KR"/>
              </a:defRPr>
            </a:pPr>
            <a:r>
              <a:rPr>
                <a:ea typeface="Noto Sans CJK KR"/>
              </a:rPr>
              <a:t>residual_x, residual_y, rx, ry가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700" b="0">
                <a:solidFill>
                  <a:srgbClr val="22384D"/>
                </a:solidFill>
                <a:latin typeface="Noto Sans CJK KR"/>
              </a:defRPr>
            </a:pPr>
            <a:r>
              <a:rPr>
                <a:ea typeface="Noto Sans CJK KR"/>
              </a:rPr>
              <a:t>모두 notna인 측정행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700" b="0">
                <a:solidFill>
                  <a:srgbClr val="22384D"/>
                </a:solidFill>
                <a:latin typeface="Noto Sans CJK KR"/>
              </a:defRPr>
            </a:pPr>
          </a:p>
          <a:p>
            <a:pPr>
              <a:lnSpc>
                <a:spcPct val="105000"/>
              </a:lnSpc>
              <a:spcAft>
                <a:spcPts val="500"/>
              </a:spcAft>
              <a:defRPr sz="1700" b="0">
                <a:solidFill>
                  <a:srgbClr val="22384D"/>
                </a:solidFill>
                <a:latin typeface="Noto Sans CJK KR"/>
              </a:defRPr>
            </a:pPr>
            <a:r>
              <a:rPr>
                <a:ea typeface="Noto Sans CJK KR"/>
              </a:rPr>
              <a:t>n_valid = 0: 계산 skip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700" b="0">
                <a:solidFill>
                  <a:srgbClr val="22384D"/>
                </a:solidFill>
                <a:latin typeface="Noto Sans CJK KR"/>
              </a:defRPr>
            </a:pPr>
            <a:r>
              <a:rPr>
                <a:ea typeface="Noto Sans CJK KR"/>
              </a:rPr>
              <a:t>n_valid &gt; 0: 점수가 적어도 계산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700" b="0">
                <a:solidFill>
                  <a:srgbClr val="22384D"/>
                </a:solidFill>
                <a:latin typeface="Noto Sans CJK KR"/>
              </a:defRPr>
            </a:pPr>
          </a:p>
          <a:p>
            <a:pPr>
              <a:lnSpc>
                <a:spcPct val="105000"/>
              </a:lnSpc>
              <a:spcAft>
                <a:spcPts val="500"/>
              </a:spcAft>
              <a:defRPr sz="1700" b="0">
                <a:solidFill>
                  <a:srgbClr val="22384D"/>
                </a:solidFill>
                <a:latin typeface="Noto Sans CJK KR"/>
              </a:defRPr>
            </a:pPr>
            <a:r>
              <a:rPr>
                <a:ea typeface="Noto Sans CJK KR"/>
              </a:rPr>
              <a:t>few_points_flag = n_valid &lt; 10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961888"/>
            <a:ext cx="10972800" cy="356616"/>
          </a:xfrm>
          <a:prstGeom prst="roundRect">
            <a:avLst>
              <a:gd name="adj" fmla="val 12000"/>
            </a:avLst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4944" y="5984748"/>
            <a:ext cx="10652760" cy="28346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150" b="0">
                <a:solidFill>
                  <a:srgbClr val="D88325"/>
                </a:solidFill>
                <a:latin typeface="Noto Sans CJK KR"/>
              </a:defRPr>
            </a:pPr>
            <a:r>
              <a:rPr>
                <a:ea typeface="Noto Sans CJK KR"/>
              </a:rPr>
              <a:t>현재 mask는 notna입니다. Inf 제외·좌표 중복 제거·rank 검사는 이 단계에서 수행하지 않습니다.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D8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060704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000" b="1">
                <a:solidFill>
                  <a:srgbClr val="0D8F9F"/>
                </a:solidFill>
                <a:latin typeface="Noto Sans CJK KR"/>
              </a:defRPr>
            </a:pPr>
            <a:r>
              <a:rPr>
                <a:ea typeface="Noto Sans CJK KR"/>
              </a:rPr>
              <a:t>05 /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52120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2800" b="1">
                <a:solidFill>
                  <a:srgbClr val="12263D"/>
                </a:solidFill>
                <a:latin typeface="Noto Sans CJK KR"/>
              </a:defRPr>
            </a:pPr>
            <a:r>
              <a:rPr>
                <a:ea typeface="Noto Sans CJK KR"/>
              </a:rPr>
              <a:t>CPE38 = X 21개 항 + Y 17개 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243584"/>
            <a:ext cx="11018520" cy="3474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200" b="0">
                <a:solidFill>
                  <a:srgbClr val="63798D"/>
                </a:solidFill>
                <a:latin typeface="Noto Sans CJK KR"/>
              </a:defRPr>
            </a:pPr>
            <a:r>
              <a:rPr>
                <a:ea typeface="Noto Sans CJK KR"/>
              </a:rPr>
              <a:t>전체 7차 다항식을 모두 사용하는 모델이 아니라 OVO3 38para subset입니다.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6473952"/>
            <a:ext cx="11018520" cy="10972"/>
          </a:xfrm>
          <a:prstGeom prst="rect">
            <a:avLst/>
          </a:prstGeom>
          <a:solidFill>
            <a:srgbClr val="D8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7" y="6547104"/>
            <a:ext cx="1065276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850" b="0">
                <a:solidFill>
                  <a:srgbClr val="63798D"/>
                </a:solidFill>
                <a:latin typeface="Noto Sans CJK KR"/>
              </a:defRPr>
            </a:pPr>
            <a:r>
              <a:rPr>
                <a:ea typeface="Noto Sans CJK KR"/>
              </a:rPr>
              <a:t>MERGE/013.py · L52–98   |   source 00568f2 · 2026.10.13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37960"/>
            <a:ext cx="393192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5000"/>
              </a:lnSpc>
              <a:spcAft>
                <a:spcPts val="500"/>
              </a:spcAft>
              <a:defRPr sz="1000" b="1">
                <a:solidFill>
                  <a:srgbClr val="0D8F9F"/>
                </a:solidFill>
                <a:latin typeface="Noto Sans CJK KR"/>
              </a:defRPr>
            </a:pPr>
            <a:r>
              <a:rPr>
                <a:ea typeface="Noto Sans CJK KR"/>
              </a:rPr>
              <a:t>07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773936"/>
          <a:ext cx="10972800" cy="40050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5029200"/>
                <a:gridCol w="4937760"/>
              </a:tblGrid>
              <a:tr h="445008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600" b="1">
                          <a:solidFill>
                            <a:srgbClr val="FFFFFF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차수</a:t>
                      </a:r>
                    </a:p>
                  </a:txBody>
                  <a:tcPr marL="118872" marR="91440" marT="36576" marB="22860" anchor="ctr">
                    <a:solidFill>
                      <a:srgbClr val="1226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600" b="1">
                          <a:solidFill>
                            <a:srgbClr val="FFFFFF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X 방향 RK</a:t>
                      </a:r>
                    </a:p>
                  </a:txBody>
                  <a:tcPr marL="118872" marR="91440" marT="36576" marB="22860" anchor="ctr">
                    <a:solidFill>
                      <a:srgbClr val="1226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600" b="1">
                          <a:solidFill>
                            <a:srgbClr val="FFFFFF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Y 방향 RK</a:t>
                      </a:r>
                    </a:p>
                  </a:txBody>
                  <a:tcPr marL="118872" marR="91440" marT="36576" marB="22860" anchor="ctr">
                    <a:solidFill>
                      <a:srgbClr val="12263D"/>
                    </a:solidFill>
                  </a:tcPr>
                </a:tc>
              </a:tr>
              <a:tr h="445008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6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0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6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RK1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6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RK2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</a:tr>
              <a:tr h="445008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6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1</a:t>
                      </a:r>
                    </a:p>
                  </a:txBody>
                  <a:tcPr marL="118872" marR="91440" marT="36576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6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RK3, RK5</a:t>
                      </a:r>
                    </a:p>
                  </a:txBody>
                  <a:tcPr marL="118872" marR="91440" marT="36576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6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RK4, RK6</a:t>
                      </a:r>
                    </a:p>
                  </a:txBody>
                  <a:tcPr marL="118872" marR="91440" marT="36576" marB="22860" anchor="ctr">
                    <a:solidFill>
                      <a:srgbClr val="FFFFFF"/>
                    </a:solidFill>
                  </a:tcPr>
                </a:tc>
              </a:tr>
              <a:tr h="445008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6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2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6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RK7, RK9, RK11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6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RK8, RK10, RK12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</a:tr>
              <a:tr h="445008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6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3</a:t>
                      </a:r>
                    </a:p>
                  </a:txBody>
                  <a:tcPr marL="118872" marR="91440" marT="36576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6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RK13, RK15, RK17, RK19</a:t>
                      </a:r>
                    </a:p>
                  </a:txBody>
                  <a:tcPr marL="118872" marR="91440" marT="36576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6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RK14, RK16, RK18</a:t>
                      </a:r>
                    </a:p>
                  </a:txBody>
                  <a:tcPr marL="118872" marR="91440" marT="36576" marB="22860" anchor="ctr">
                    <a:solidFill>
                      <a:srgbClr val="FFFFFF"/>
                    </a:solidFill>
                  </a:tcPr>
                </a:tc>
              </a:tr>
              <a:tr h="445008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6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4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6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RK23, RK25, RK27, RK29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6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RK22, RK24, RK26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</a:tr>
              <a:tr h="445008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6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5</a:t>
                      </a:r>
                    </a:p>
                  </a:txBody>
                  <a:tcPr marL="118872" marR="91440" marT="36576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6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RK35, RK37, RK39, RK41</a:t>
                      </a:r>
                    </a:p>
                  </a:txBody>
                  <a:tcPr marL="118872" marR="91440" marT="36576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6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RK32, RK34, RK36</a:t>
                      </a:r>
                    </a:p>
                  </a:txBody>
                  <a:tcPr marL="118872" marR="91440" marT="36576" marB="22860" anchor="ctr">
                    <a:solidFill>
                      <a:srgbClr val="FFFFFF"/>
                    </a:solidFill>
                  </a:tcPr>
                </a:tc>
              </a:tr>
              <a:tr h="445008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6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6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6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RK49, RK51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6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RK46, RK48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</a:tr>
              <a:tr h="445008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6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7</a:t>
                      </a:r>
                    </a:p>
                  </a:txBody>
                  <a:tcPr marL="118872" marR="91440" marT="36576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6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RK65</a:t>
                      </a:r>
                    </a:p>
                  </a:txBody>
                  <a:tcPr marL="118872" marR="91440" marT="36576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6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없음</a:t>
                      </a:r>
                    </a:p>
                  </a:txBody>
                  <a:tcPr marL="118872" marR="91440" marT="36576" marB="2286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48640" y="5961888"/>
            <a:ext cx="10972800" cy="356616"/>
          </a:xfrm>
          <a:prstGeom prst="roundRect">
            <a:avLst>
              <a:gd name="adj" fmla="val 12000"/>
            </a:avLst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5984748"/>
            <a:ext cx="10652760" cy="28346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150" b="0">
                <a:solidFill>
                  <a:srgbClr val="D88325"/>
                </a:solidFill>
                <a:latin typeface="Noto Sans CJK KR"/>
              </a:defRPr>
            </a:pPr>
            <a:r>
              <a:rPr>
                <a:ea typeface="Noto Sans CJK KR"/>
              </a:rPr>
              <a:t>X의 ry 1차 항은 음수입니다. 계수 순서·부호를 바꾸면 제거되는 보정 성분도 바뀝니다.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D8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060704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000" b="1">
                <a:solidFill>
                  <a:srgbClr val="0D8F9F"/>
                </a:solidFill>
                <a:latin typeface="Noto Sans CJK KR"/>
              </a:defRPr>
            </a:pPr>
            <a:r>
              <a:rPr>
                <a:ea typeface="Noto Sans CJK KR"/>
              </a:rPr>
              <a:t>05 /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52120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2800" b="1">
                <a:solidFill>
                  <a:srgbClr val="12263D"/>
                </a:solidFill>
                <a:latin typeface="Noto Sans CJK KR"/>
              </a:defRPr>
            </a:pPr>
            <a:r>
              <a:rPr>
                <a:ea typeface="Noto Sans CJK KR"/>
              </a:rPr>
              <a:t>기저 스케일이 Ridge의 체감 강도를 바꾼다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243584"/>
            <a:ext cx="11018520" cy="3474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200" b="0">
                <a:solidFill>
                  <a:srgbClr val="63798D"/>
                </a:solidFill>
                <a:latin typeface="Noto Sans CJK KR"/>
              </a:defRPr>
            </a:pPr>
            <a:r>
              <a:rPr>
                <a:ea typeface="Noto Sans CJK KR"/>
              </a:rPr>
              <a:t>13.py에는 평균 0 / 분산 1 standardization이 없습니다.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6473952"/>
            <a:ext cx="11018520" cy="10972"/>
          </a:xfrm>
          <a:prstGeom prst="rect">
            <a:avLst/>
          </a:prstGeom>
          <a:solidFill>
            <a:srgbClr val="D8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7" y="6547104"/>
            <a:ext cx="1065276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850" b="0">
                <a:solidFill>
                  <a:srgbClr val="63798D"/>
                </a:solidFill>
                <a:latin typeface="Noto Sans CJK KR"/>
              </a:defRPr>
            </a:pPr>
            <a:r>
              <a:rPr>
                <a:ea typeface="Noto Sans CJK KR"/>
              </a:rPr>
              <a:t>MERGE/013.py · L52–77, L233–239   |   source 00568f2 · 2026.10.13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37960"/>
            <a:ext cx="393192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5000"/>
              </a:lnSpc>
              <a:spcAft>
                <a:spcPts val="500"/>
              </a:spcAft>
              <a:defRPr sz="1000" b="1">
                <a:solidFill>
                  <a:srgbClr val="0D8F9F"/>
                </a:solidFill>
                <a:latin typeface="Noto Sans CJK KR"/>
              </a:defRPr>
            </a:pPr>
            <a:r>
              <a:rPr>
                <a:ea typeface="Noto Sans CJK KR"/>
              </a:rPr>
              <a:t>08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801368"/>
          <a:ext cx="6858000" cy="3977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1737360"/>
                <a:gridCol w="4114800"/>
              </a:tblGrid>
              <a:tr h="497204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600" b="1">
                          <a:solidFill>
                            <a:srgbClr val="FFFFFF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차수</a:t>
                      </a:r>
                    </a:p>
                  </a:txBody>
                  <a:tcPr marL="118872" marR="91440" marT="36576" marB="22860" anchor="ctr">
                    <a:solidFill>
                      <a:srgbClr val="1226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600" b="1">
                          <a:solidFill>
                            <a:srgbClr val="FFFFFF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기저 분모</a:t>
                      </a:r>
                    </a:p>
                  </a:txBody>
                  <a:tcPr marL="118872" marR="91440" marT="36576" marB="22860" anchor="ctr">
                    <a:solidFill>
                      <a:srgbClr val="1226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600" b="1">
                          <a:solidFill>
                            <a:srgbClr val="FFFFFF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예: rx = ry = 10000 µm</a:t>
                      </a:r>
                    </a:p>
                  </a:txBody>
                  <a:tcPr marL="118872" marR="91440" marT="36576" marB="22860" anchor="ctr">
                    <a:solidFill>
                      <a:srgbClr val="12263D"/>
                    </a:solidFill>
                  </a:tcPr>
                </a:tc>
              </a:tr>
              <a:tr h="497204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6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1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6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10⁶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6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rx / 10⁶ = 0.01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</a:tr>
              <a:tr h="497204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6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2</a:t>
                      </a:r>
                    </a:p>
                  </a:txBody>
                  <a:tcPr marL="118872" marR="91440" marT="36576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6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10⁹</a:t>
                      </a:r>
                    </a:p>
                  </a:txBody>
                  <a:tcPr marL="118872" marR="91440" marT="36576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6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rx² / 10⁹ = 0.1</a:t>
                      </a:r>
                    </a:p>
                  </a:txBody>
                  <a:tcPr marL="118872" marR="91440" marT="36576" marB="22860" anchor="ctr">
                    <a:solidFill>
                      <a:srgbClr val="FFFFFF"/>
                    </a:solidFill>
                  </a:tcPr>
                </a:tc>
              </a:tr>
              <a:tr h="497204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6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3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6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10¹²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6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rx³ / 10¹² = 1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</a:tr>
              <a:tr h="497204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6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4</a:t>
                      </a:r>
                    </a:p>
                  </a:txBody>
                  <a:tcPr marL="118872" marR="91440" marT="36576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6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10¹⁹</a:t>
                      </a:r>
                    </a:p>
                  </a:txBody>
                  <a:tcPr marL="118872" marR="91440" marT="36576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6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rx³ry / 10¹⁹ = 0.001</a:t>
                      </a:r>
                    </a:p>
                  </a:txBody>
                  <a:tcPr marL="118872" marR="91440" marT="36576" marB="22860" anchor="ctr">
                    <a:solidFill>
                      <a:srgbClr val="FFFFFF"/>
                    </a:solidFill>
                  </a:tcPr>
                </a:tc>
              </a:tr>
              <a:tr h="497204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6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5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6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10²³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6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rx³ry² / 10²³ = 0.001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</a:tr>
              <a:tr h="497204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6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6</a:t>
                      </a:r>
                    </a:p>
                  </a:txBody>
                  <a:tcPr marL="118872" marR="91440" marT="36576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6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10²⁷</a:t>
                      </a:r>
                    </a:p>
                  </a:txBody>
                  <a:tcPr marL="118872" marR="91440" marT="36576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6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rx³ry³ / 10²⁷ = 0.001</a:t>
                      </a:r>
                    </a:p>
                  </a:txBody>
                  <a:tcPr marL="118872" marR="91440" marT="36576" marB="22860" anchor="ctr">
                    <a:solidFill>
                      <a:srgbClr val="FFFFFF"/>
                    </a:solidFill>
                  </a:tcPr>
                </a:tc>
              </a:tr>
              <a:tr h="497211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6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7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6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10³¹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6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rx³ry⁴ / 10³¹ = 0.001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680960" y="1801368"/>
            <a:ext cx="3840480" cy="3977639"/>
          </a:xfrm>
          <a:prstGeom prst="roundRect">
            <a:avLst>
              <a:gd name="adj" fmla="val 12000"/>
            </a:avLst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80960" y="1801368"/>
            <a:ext cx="50292" cy="3977639"/>
          </a:xfrm>
          <a:prstGeom prst="rect">
            <a:avLst/>
          </a:prstGeom>
          <a:solidFill>
            <a:srgbClr val="D88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0" y="1956816"/>
            <a:ext cx="347472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900" b="1">
                <a:solidFill>
                  <a:srgbClr val="D88325"/>
                </a:solidFill>
                <a:latin typeface="Noto Sans CJK KR"/>
              </a:defRPr>
            </a:pPr>
            <a:r>
              <a:rPr>
                <a:ea typeface="Noto Sans CJK KR"/>
              </a:rPr>
              <a:t>해석 포인트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2478024"/>
            <a:ext cx="3474720" cy="321868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700" b="0">
                <a:solidFill>
                  <a:srgbClr val="22384D"/>
                </a:solidFill>
                <a:latin typeface="Noto Sans CJK KR"/>
              </a:defRPr>
            </a:pPr>
            <a:r>
              <a:rPr>
                <a:ea typeface="Noto Sans CJK KR"/>
              </a:rPr>
              <a:t>같은 λ라도 열의 크기가 다르면 shrinkage가 다릅니다.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700" b="0">
                <a:solidFill>
                  <a:srgbClr val="22384D"/>
                </a:solidFill>
                <a:latin typeface="Noto Sans CJK KR"/>
              </a:defRPr>
            </a:pPr>
          </a:p>
          <a:p>
            <a:pPr>
              <a:lnSpc>
                <a:spcPct val="105000"/>
              </a:lnSpc>
              <a:spcAft>
                <a:spcPts val="500"/>
              </a:spcAft>
              <a:defRPr sz="1700" b="0">
                <a:solidFill>
                  <a:srgbClr val="22384D"/>
                </a:solidFill>
                <a:latin typeface="Noto Sans CJK KR"/>
              </a:defRPr>
            </a:pPr>
            <a:r>
              <a:rPr>
                <a:ea typeface="Noto Sans CJK KR"/>
              </a:rPr>
              <a:t>기저 분모 또는 좌표 단위를 바꾸면 기존 λ와 span 설정의 의미가 함께 바뀝니다.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D8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060704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000" b="1">
                <a:solidFill>
                  <a:srgbClr val="0D8F9F"/>
                </a:solidFill>
                <a:latin typeface="Noto Sans CJK KR"/>
              </a:defRPr>
            </a:pPr>
            <a:r>
              <a:rPr>
                <a:ea typeface="Noto Sans CJK KR"/>
              </a:rPr>
              <a:t>06 / VIRTUAL GRID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52120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2800" b="1">
                <a:solidFill>
                  <a:srgbClr val="12263D"/>
                </a:solidFill>
                <a:latin typeface="Noto Sans CJK KR"/>
              </a:defRPr>
            </a:pPr>
            <a:r>
              <a:rPr>
                <a:ea typeface="Noto Sans CJK KR"/>
              </a:rPr>
              <a:t>측정하지 않은 chip 위치에서 모델을 평가한다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243584"/>
            <a:ext cx="11018520" cy="3474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200" b="0">
                <a:solidFill>
                  <a:srgbClr val="63798D"/>
                </a:solidFill>
                <a:latin typeface="Noto Sans CJK KR"/>
              </a:defRPr>
            </a:pPr>
            <a:r>
              <a:rPr>
                <a:ea typeface="Noto Sans CJK KR"/>
              </a:rPr>
              <a:t>이 점들은 fitting target을 추가하는 데이터가 아니라 G-opt·span 평가점입니다.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6473952"/>
            <a:ext cx="11018520" cy="10972"/>
          </a:xfrm>
          <a:prstGeom prst="rect">
            <a:avLst/>
          </a:prstGeom>
          <a:solidFill>
            <a:srgbClr val="D8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7" y="6547104"/>
            <a:ext cx="1065276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850" b="0">
                <a:solidFill>
                  <a:srgbClr val="63798D"/>
                </a:solidFill>
                <a:latin typeface="Noto Sans CJK KR"/>
              </a:defRPr>
            </a:pPr>
            <a:r>
              <a:rPr>
                <a:ea typeface="Noto Sans CJK KR"/>
              </a:rPr>
              <a:t>MERGE/013.py · L242–358   |   source 00568f2 · 2026.10.13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37960"/>
            <a:ext cx="393192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5000"/>
              </a:lnSpc>
              <a:spcAft>
                <a:spcPts val="500"/>
              </a:spcAft>
              <a:defRPr sz="1000" b="1">
                <a:solidFill>
                  <a:srgbClr val="0D8F9F"/>
                </a:solidFill>
                <a:latin typeface="Noto Sans CJK KR"/>
              </a:defRPr>
            </a:pPr>
            <a:r>
              <a:rPr>
                <a:ea typeface="Noto Sans CJK KR"/>
              </a:rPr>
              <a:t>09</a:t>
            </a:r>
          </a:p>
        </p:txBody>
      </p:sp>
      <p:pic>
        <p:nvPicPr>
          <p:cNvPr id="9" name="Picture 8" descr="virtual_gri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737360"/>
            <a:ext cx="10698480" cy="467712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48640" y="5961888"/>
            <a:ext cx="10972800" cy="356616"/>
          </a:xfrm>
          <a:prstGeom prst="roundRect">
            <a:avLst>
              <a:gd name="adj" fmla="val 12000"/>
            </a:avLst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5984748"/>
            <a:ext cx="10652760" cy="28346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150" b="0">
                <a:solidFill>
                  <a:srgbClr val="D88325"/>
                </a:solidFill>
                <a:latin typeface="Noto Sans CJK KR"/>
              </a:defRPr>
            </a:pPr>
            <a:r>
              <a:rPr>
                <a:ea typeface="Noto Sans CJK KR"/>
              </a:rPr>
              <a:t>3×3 chip: 45개 raw corner/center → 공유 corner 중복 제거 → 25개 unique point. 그림은 합성 geometry입니다.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D8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060704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000" b="1">
                <a:solidFill>
                  <a:srgbClr val="0D8F9F"/>
                </a:solidFill>
                <a:latin typeface="Noto Sans CJK KR"/>
              </a:defRPr>
            </a:pPr>
            <a:r>
              <a:rPr>
                <a:ea typeface="Noto Sans CJK KR"/>
              </a:rPr>
              <a:t>06 / VIRTUAL GRID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52120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2800" b="1">
                <a:solidFill>
                  <a:srgbClr val="12263D"/>
                </a:solidFill>
                <a:latin typeface="Noto Sans CJK KR"/>
              </a:defRPr>
            </a:pPr>
            <a:r>
              <a:rPr>
                <a:ea typeface="Noto Sans CJK KR"/>
              </a:rPr>
              <a:t>평가점의 fallback과 inner/partial 판정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243584"/>
            <a:ext cx="11018520" cy="3474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200" b="0">
                <a:solidFill>
                  <a:srgbClr val="63798D"/>
                </a:solidFill>
                <a:latin typeface="Noto Sans CJK KR"/>
              </a:defRPr>
            </a:pPr>
            <a:r>
              <a:rPr>
                <a:ea typeface="Noto Sans CJK KR"/>
              </a:rPr>
              <a:t>메타데이터와 clipping 결과에 따라 실제 평가 영역이 달라집니다.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6473952"/>
            <a:ext cx="11018520" cy="10972"/>
          </a:xfrm>
          <a:prstGeom prst="rect">
            <a:avLst/>
          </a:prstGeom>
          <a:solidFill>
            <a:srgbClr val="D8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7" y="6547104"/>
            <a:ext cx="1065276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850" b="0">
                <a:solidFill>
                  <a:srgbClr val="63798D"/>
                </a:solidFill>
                <a:latin typeface="Noto Sans CJK KR"/>
              </a:defRPr>
            </a:pPr>
            <a:r>
              <a:rPr>
                <a:ea typeface="Noto Sans CJK KR"/>
              </a:rPr>
              <a:t>MERGE/013.py · L314–358, L381–403, L725–727   |   source 00568f2 · 2026.10.13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37960"/>
            <a:ext cx="393192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5000"/>
              </a:lnSpc>
              <a:spcAft>
                <a:spcPts val="500"/>
              </a:spcAft>
              <a:defRPr sz="1000" b="1">
                <a:solidFill>
                  <a:srgbClr val="0D8F9F"/>
                </a:solidFill>
                <a:latin typeface="Noto Sans CJK KR"/>
              </a:defRPr>
            </a:pPr>
            <a:r>
              <a:rPr>
                <a:ea typeface="Noto Sans CJK KR"/>
              </a:rPr>
              <a:t>10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773936"/>
          <a:ext cx="10972800" cy="23591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01568"/>
                <a:gridCol w="3063240"/>
                <a:gridCol w="4507992"/>
              </a:tblGrid>
              <a:tr h="471830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250" b="1">
                          <a:solidFill>
                            <a:srgbClr val="FFFFFF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조건</a:t>
                      </a:r>
                    </a:p>
                  </a:txBody>
                  <a:tcPr marL="118872" marR="91440" marT="36576" marB="22860" anchor="ctr">
                    <a:solidFill>
                      <a:srgbClr val="1226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250" b="1">
                          <a:solidFill>
                            <a:srgbClr val="FFFFFF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실제 평가점</a:t>
                      </a:r>
                    </a:p>
                  </a:txBody>
                  <a:tcPr marL="118872" marR="91440" marT="36576" marB="22860" anchor="ctr">
                    <a:solidFill>
                      <a:srgbClr val="1226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250" b="1">
                          <a:solidFill>
                            <a:srgbClr val="FFFFFF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기록되는 source</a:t>
                      </a:r>
                    </a:p>
                  </a:txBody>
                  <a:tcPr marL="118872" marR="91440" marT="36576" marB="22860" anchor="ctr">
                    <a:solidFill>
                      <a:srgbClr val="12263D"/>
                    </a:solidFill>
                  </a:tcPr>
                </a:tc>
              </a:tr>
              <a:tr h="471830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2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chip metadata 유효 + clip 후 점 존재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2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R ≤ 144000 µm인 corner/center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2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chip_corner_center_wafer_clipped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</a:tr>
              <a:tr h="471830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2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chip metadata 유효 + clip 후 0점</a:t>
                      </a:r>
                    </a:p>
                  </a:txBody>
                  <a:tcPr marL="118872" marR="91440" marT="36576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2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clipping 전 전체 corner/center</a:t>
                      </a:r>
                    </a:p>
                  </a:txBody>
                  <a:tcPr marL="118872" marR="91440" marT="36576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2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chip_corner_center_no_clip_points_fallback</a:t>
                      </a:r>
                    </a:p>
                  </a:txBody>
                  <a:tcPr marL="118872" marR="91440" marT="36576" marB="22860" anchor="ctr">
                    <a:solidFill>
                      <a:srgbClr val="FFFFFF"/>
                    </a:solidFill>
                  </a:tcPr>
                </a:tc>
              </a:tr>
              <a:tr h="471830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2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chip metadata 없음/유효행 없음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2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실측 좌표 min/max의 10×10 grid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2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measured_range_grid_fallback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</a:tr>
              <a:tr h="471832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2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USE_VIRTUAL_CHIP_POINTS=False</a:t>
                      </a:r>
                    </a:p>
                  </a:txBody>
                  <a:tcPr marL="118872" marR="91440" marT="36576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2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실측 범위의 eval_grid_n×eval_grid_n</a:t>
                      </a:r>
                    </a:p>
                  </a:txBody>
                  <a:tcPr marL="118872" marR="91440" marT="36576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2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measured_range_grid</a:t>
                      </a:r>
                    </a:p>
                  </a:txBody>
                  <a:tcPr marL="118872" marR="91440" marT="36576" marB="2286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48640" y="4407408"/>
            <a:ext cx="5321808" cy="1271016"/>
          </a:xfrm>
          <a:prstGeom prst="roundRect">
            <a:avLst>
              <a:gd name="adj" fmla="val 12000"/>
            </a:avLst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4407408"/>
            <a:ext cx="50292" cy="1271016"/>
          </a:xfrm>
          <a:prstGeom prst="rect">
            <a:avLst/>
          </a:prstGeom>
          <a:solidFill>
            <a:srgbClr val="0D8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562856"/>
            <a:ext cx="4956048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900" b="1">
                <a:solidFill>
                  <a:srgbClr val="0D8F9F"/>
                </a:solidFill>
                <a:latin typeface="Noto Sans CJK KR"/>
              </a:defRPr>
            </a:pPr>
            <a:r>
              <a:rPr>
                <a:ea typeface="Noto Sans CJK KR"/>
              </a:rPr>
              <a:t>inner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084064"/>
            <a:ext cx="4956048" cy="5120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800" b="0">
                <a:solidFill>
                  <a:srgbClr val="22384D"/>
                </a:solidFill>
                <a:latin typeface="Noto Sans CJK KR"/>
              </a:defRPr>
            </a:pPr>
            <a:r>
              <a:rPr>
                <a:ea typeface="Noto Sans CJK KR"/>
              </a:rPr>
              <a:t>n_valid ≥ n_virtual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4407408"/>
            <a:ext cx="5394960" cy="1271016"/>
          </a:xfrm>
          <a:prstGeom prst="roundRect">
            <a:avLst>
              <a:gd name="adj" fmla="val 12000"/>
            </a:avLst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26480" y="4407408"/>
            <a:ext cx="50292" cy="1271016"/>
          </a:xfrm>
          <a:prstGeom prst="rect">
            <a:avLst/>
          </a:prstGeom>
          <a:solidFill>
            <a:srgbClr val="D88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4562856"/>
            <a:ext cx="50292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900" b="1">
                <a:solidFill>
                  <a:srgbClr val="D88325"/>
                </a:solidFill>
                <a:latin typeface="Noto Sans CJK KR"/>
              </a:defRPr>
            </a:pPr>
            <a:r>
              <a:rPr>
                <a:ea typeface="Noto Sans CJK KR"/>
              </a:rPr>
              <a:t>partial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5084064"/>
            <a:ext cx="5029200" cy="5120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800" b="0">
                <a:solidFill>
                  <a:srgbClr val="22384D"/>
                </a:solidFill>
                <a:latin typeface="Noto Sans CJK KR"/>
              </a:defRPr>
            </a:pPr>
            <a:r>
              <a:rPr>
                <a:ea typeface="Noto Sans CJK KR"/>
              </a:rPr>
              <a:t>n_valid &lt; n_virtual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961888"/>
            <a:ext cx="10972800" cy="356616"/>
          </a:xfrm>
          <a:prstGeom prst="roundRect">
            <a:avLst>
              <a:gd name="adj" fmla="val 12000"/>
            </a:avLst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4944" y="5984748"/>
            <a:ext cx="10652760" cy="28346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150" b="0">
                <a:solidFill>
                  <a:srgbClr val="D88325"/>
                </a:solidFill>
                <a:latin typeface="Noto Sans CJK KR"/>
              </a:defRPr>
            </a:pPr>
            <a:r>
              <a:rPr>
                <a:ea typeface="Noto Sans CJK KR"/>
              </a:rPr>
              <a:t>inner/partial은 점수 비교에 따른 proxy이며 실제 chip coverage나 edge 여부를 직접 판정하지 않습니다.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D8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060704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000" b="1">
                <a:solidFill>
                  <a:srgbClr val="0D8F9F"/>
                </a:solidFill>
                <a:latin typeface="Noto Sans CJK KR"/>
              </a:defRPr>
            </a:pPr>
            <a:r>
              <a:rPr>
                <a:ea typeface="Noto Sans CJK KR"/>
              </a:rPr>
              <a:t>07 / 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52120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2800" b="1">
                <a:solidFill>
                  <a:srgbClr val="12263D"/>
                </a:solidFill>
                <a:latin typeface="Noto Sans CJK KR"/>
              </a:defRPr>
            </a:pPr>
            <a:r>
              <a:rPr>
                <a:ea typeface="Noto Sans CJK KR"/>
              </a:rPr>
              <a:t>한 방향의 weighted Ridge 회귀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243584"/>
            <a:ext cx="11018520" cy="3474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200" b="0">
                <a:solidFill>
                  <a:srgbClr val="63798D"/>
                </a:solidFill>
                <a:latin typeface="Noto Sans CJK KR"/>
              </a:defRPr>
            </a:pPr>
            <a:r>
              <a:rPr>
                <a:ea typeface="Noto Sans CJK KR"/>
              </a:rPr>
              <a:t>X·Y 각각 별도의 β와 λ 벡터를 계산합니다.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6473952"/>
            <a:ext cx="11018520" cy="10972"/>
          </a:xfrm>
          <a:prstGeom prst="rect">
            <a:avLst/>
          </a:prstGeom>
          <a:solidFill>
            <a:srgbClr val="D8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7" y="6547104"/>
            <a:ext cx="1065276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850" b="0">
                <a:solidFill>
                  <a:srgbClr val="63798D"/>
                </a:solidFill>
                <a:latin typeface="Noto Sans CJK KR"/>
              </a:defRPr>
            </a:pPr>
            <a:r>
              <a:rPr>
                <a:ea typeface="Noto Sans CJK KR"/>
              </a:rPr>
              <a:t>MERGE/013.py · L233–239, L368–378   |   source 00568f2 · 2026.10.13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37960"/>
            <a:ext cx="393192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5000"/>
              </a:lnSpc>
              <a:spcAft>
                <a:spcPts val="500"/>
              </a:spcAft>
              <a:defRPr sz="1000" b="1">
                <a:solidFill>
                  <a:srgbClr val="0D8F9F"/>
                </a:solidFill>
                <a:latin typeface="Noto Sans CJK KR"/>
              </a:defRPr>
            </a:pPr>
            <a:r>
              <a:rPr>
                <a:ea typeface="Noto Sans CJK KR"/>
              </a:rPr>
              <a:t>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01368"/>
            <a:ext cx="10972800" cy="941832"/>
          </a:xfrm>
          <a:prstGeom prst="roundRect">
            <a:avLst>
              <a:gd name="adj" fmla="val 12000"/>
            </a:avLst>
          </a:prstGeom>
          <a:solidFill>
            <a:srgbClr val="12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002536"/>
            <a:ext cx="10460736" cy="5486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2600" b="1">
                <a:solidFill>
                  <a:srgbClr val="FFFFFF"/>
                </a:solidFill>
                <a:latin typeface="Noto Sans CJK KR"/>
              </a:defRPr>
            </a:pPr>
            <a:r>
              <a:rPr>
                <a:ea typeface="Noto Sans CJK KR"/>
              </a:rPr>
              <a:t>minβ  ‖y − Xβ‖² + Σⱼ λⱼ βⱼ²     /     λⱼ = λbase × valveⱼ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063240"/>
            <a:ext cx="5321808" cy="2468880"/>
          </a:xfrm>
          <a:prstGeom prst="roundRect">
            <a:avLst>
              <a:gd name="adj" fmla="val 12000"/>
            </a:avLst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3063240"/>
            <a:ext cx="50292" cy="2468880"/>
          </a:xfrm>
          <a:prstGeom prst="rect">
            <a:avLst/>
          </a:prstGeom>
          <a:solidFill>
            <a:srgbClr val="0D8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218688"/>
            <a:ext cx="4956048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900" b="1">
                <a:solidFill>
                  <a:srgbClr val="0D8F9F"/>
                </a:solidFill>
                <a:latin typeface="Noto Sans CJK KR"/>
              </a:defRPr>
            </a:pPr>
            <a:r>
              <a:rPr>
                <a:ea typeface="Noto Sans CJK KR"/>
              </a:rPr>
              <a:t>정규방정식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739896"/>
            <a:ext cx="4956048" cy="1709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2200" b="0">
                <a:solidFill>
                  <a:srgbClr val="22384D"/>
                </a:solidFill>
                <a:latin typeface="Noto Sans CJK KR"/>
              </a:defRPr>
            </a:pPr>
            <a:r>
              <a:rPr>
                <a:ea typeface="Noto Sans CJK KR"/>
              </a:rPr>
              <a:t>A = XᵀX + diag(λ)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2200" b="0">
                <a:solidFill>
                  <a:srgbClr val="22384D"/>
                </a:solidFill>
                <a:latin typeface="Noto Sans CJK KR"/>
              </a:defRPr>
            </a:pPr>
            <a:r>
              <a:rPr>
                <a:ea typeface="Noto Sans CJK KR"/>
              </a:rPr>
              <a:t>b = Xᵀy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2200" b="0">
                <a:solidFill>
                  <a:srgbClr val="22384D"/>
                </a:solidFill>
                <a:latin typeface="Noto Sans CJK KR"/>
              </a:defRPr>
            </a:pPr>
            <a:r>
              <a:rPr>
                <a:ea typeface="Noto Sans CJK KR"/>
              </a:rPr>
              <a:t>Aβ = b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2200" b="0">
                <a:solidFill>
                  <a:srgbClr val="22384D"/>
                </a:solidFill>
                <a:latin typeface="Noto Sans CJK KR"/>
              </a:defRPr>
            </a:pPr>
            <a:r>
              <a:rPr>
                <a:ea typeface="Noto Sans CJK KR"/>
              </a:rPr>
              <a:t>pred = Xβ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3063240"/>
            <a:ext cx="5394960" cy="2468880"/>
          </a:xfrm>
          <a:prstGeom prst="roundRect">
            <a:avLst>
              <a:gd name="adj" fmla="val 12000"/>
            </a:avLst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26480" y="3063240"/>
            <a:ext cx="50292" cy="2468880"/>
          </a:xfrm>
          <a:prstGeom prst="rect">
            <a:avLst/>
          </a:prstGeom>
          <a:solidFill>
            <a:srgbClr val="D88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3218688"/>
            <a:ext cx="50292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900" b="1">
                <a:solidFill>
                  <a:srgbClr val="D88325"/>
                </a:solidFill>
                <a:latin typeface="Noto Sans CJK KR"/>
              </a:defRPr>
            </a:pPr>
            <a:r>
              <a:rPr>
                <a:ea typeface="Noto Sans CJK KR"/>
              </a:rPr>
              <a:t>수치 계산 경로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739896"/>
            <a:ext cx="5029200" cy="1709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700" b="0">
                <a:solidFill>
                  <a:srgbClr val="22384D"/>
                </a:solidFill>
                <a:latin typeface="Noto Sans CJK KR"/>
              </a:defRPr>
            </a:pPr>
            <a:r>
              <a:rPr>
                <a:ea typeface="Noto Sans CJK KR"/>
              </a:rPr>
              <a:t>기본: numpy.linalg.solve(A, b)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700" b="0">
                <a:solidFill>
                  <a:srgbClr val="22384D"/>
                </a:solidFill>
                <a:latin typeface="Noto Sans CJK KR"/>
              </a:defRPr>
            </a:pPr>
          </a:p>
          <a:p>
            <a:pPr>
              <a:lnSpc>
                <a:spcPct val="105000"/>
              </a:lnSpc>
              <a:spcAft>
                <a:spcPts val="500"/>
              </a:spcAft>
              <a:defRPr sz="1700" b="0">
                <a:solidFill>
                  <a:srgbClr val="22384D"/>
                </a:solidFill>
                <a:latin typeface="Noto Sans CJK KR"/>
              </a:defRPr>
            </a:pPr>
            <a:r>
              <a:rPr>
                <a:ea typeface="Noto Sans CJK KR"/>
              </a:rPr>
              <a:t>LinAlgError가 발생하면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700" b="0">
                <a:solidFill>
                  <a:srgbClr val="22384D"/>
                </a:solidFill>
                <a:latin typeface="Noto Sans CJK KR"/>
              </a:defRPr>
            </a:pPr>
            <a:r>
              <a:rPr>
                <a:ea typeface="Noto Sans CJK KR"/>
              </a:rPr>
              <a:t>pinv(A) @ b로 fallback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961888"/>
            <a:ext cx="10972800" cy="356616"/>
          </a:xfrm>
          <a:prstGeom prst="roundRect">
            <a:avLst>
              <a:gd name="adj" fmla="val 12000"/>
            </a:avLst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4944" y="5984748"/>
            <a:ext cx="10652760" cy="28346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150" b="0">
                <a:solidFill>
                  <a:srgbClr val="D88325"/>
                </a:solidFill>
                <a:latin typeface="Noto Sans CJK KR"/>
              </a:defRPr>
            </a:pPr>
            <a:r>
              <a:rPr>
                <a:ea typeface="Noto Sans CJK KR"/>
              </a:rPr>
              <a:t>pinv fallback은 조건수 기반 선택이 아닙니다. solve/inv가 예외 없이 반환하면 그 값을 사용합니다.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D8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060704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000" b="1">
                <a:solidFill>
                  <a:srgbClr val="0D8F9F"/>
                </a:solidFill>
                <a:latin typeface="Noto Sans CJK KR"/>
              </a:defRPr>
            </a:pPr>
            <a:r>
              <a:rPr>
                <a:ea typeface="Noto Sans CJK KR"/>
              </a:rPr>
              <a:t>07 / 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52120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2800" b="1">
                <a:solidFill>
                  <a:srgbClr val="12263D"/>
                </a:solidFill>
                <a:latin typeface="Noto Sans CJK KR"/>
              </a:defRPr>
            </a:pPr>
            <a:r>
              <a:rPr>
                <a:ea typeface="Noto Sans CJK KR"/>
              </a:rPr>
              <a:t>항별 Ridge valve: 모든 RK를 같은 강도로 누르지 않는다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243584"/>
            <a:ext cx="11018520" cy="3474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200" b="0">
                <a:solidFill>
                  <a:srgbClr val="63798D"/>
                </a:solidFill>
                <a:latin typeface="Noto Sans CJK KR"/>
              </a:defRPr>
            </a:pPr>
            <a:r>
              <a:rPr>
                <a:ea typeface="Noto Sans CJK KR"/>
              </a:rPr>
              <a:t>현재 CPE38에서 실제 사용되는 항만 정리했습니다.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6473952"/>
            <a:ext cx="11018520" cy="10972"/>
          </a:xfrm>
          <a:prstGeom prst="rect">
            <a:avLst/>
          </a:prstGeom>
          <a:solidFill>
            <a:srgbClr val="D8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7" y="6547104"/>
            <a:ext cx="1065276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850" b="0">
                <a:solidFill>
                  <a:srgbClr val="63798D"/>
                </a:solidFill>
                <a:latin typeface="Noto Sans CJK KR"/>
              </a:defRPr>
            </a:pPr>
            <a:r>
              <a:rPr>
                <a:ea typeface="Noto Sans CJK KR"/>
              </a:rPr>
              <a:t>MERGE/013.py · L223–239   |   source 00568f2 · 2026.10.13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37960"/>
            <a:ext cx="393192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5000"/>
              </a:lnSpc>
              <a:spcAft>
                <a:spcPts val="500"/>
              </a:spcAft>
              <a:defRPr sz="1000" b="1">
                <a:solidFill>
                  <a:srgbClr val="0D8F9F"/>
                </a:solidFill>
                <a:latin typeface="Noto Sans CJK KR"/>
              </a:defRPr>
            </a:pPr>
            <a:r>
              <a:rPr>
                <a:ea typeface="Noto Sans CJK KR"/>
              </a:rPr>
              <a:t>12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773936"/>
          <a:ext cx="10972800" cy="340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5760720"/>
                <a:gridCol w="3840480"/>
              </a:tblGrid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600" b="1">
                          <a:solidFill>
                            <a:srgbClr val="FFFFFF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valve</a:t>
                      </a:r>
                    </a:p>
                  </a:txBody>
                  <a:tcPr marL="118872" marR="91440" marT="36576" marB="22860" anchor="ctr">
                    <a:solidFill>
                      <a:srgbClr val="1226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600" b="1">
                          <a:solidFill>
                            <a:srgbClr val="FFFFFF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적용 항</a:t>
                      </a:r>
                    </a:p>
                  </a:txBody>
                  <a:tcPr marL="118872" marR="91440" marT="36576" marB="22860" anchor="ctr">
                    <a:solidFill>
                      <a:srgbClr val="1226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600" b="1">
                          <a:solidFill>
                            <a:srgbClr val="FFFFFF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해석</a:t>
                      </a:r>
                    </a:p>
                  </a:txBody>
                  <a:tcPr marL="118872" marR="91440" marT="36576" marB="22860" anchor="ctr">
                    <a:solidFill>
                      <a:srgbClr val="12263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6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0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6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RK1, RK2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6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translation에는 Ridge penalty 없음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6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0.01</a:t>
                      </a:r>
                    </a:p>
                  </a:txBody>
                  <a:tcPr marL="118872" marR="91440" marT="36576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6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RK3, RK4, RK5, RK6</a:t>
                      </a:r>
                    </a:p>
                  </a:txBody>
                  <a:tcPr marL="118872" marR="91440" marT="36576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6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1차 계수의 상대 penalty가 작음</a:t>
                      </a:r>
                    </a:p>
                  </a:txBody>
                  <a:tcPr marL="118872" marR="91440" marT="36576" marB="2286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6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0.1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6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RK8, RK10, RK11, RK14, RK16, RK19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6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선택된 2·3차 항에 중간 penalty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6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1.0</a:t>
                      </a:r>
                    </a:p>
                  </a:txBody>
                  <a:tcPr marL="118872" marR="91440" marT="36576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6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RK7, RK9, RK12, RK13, RK15, RK17, RK18</a:t>
                      </a:r>
                    </a:p>
                  </a:txBody>
                  <a:tcPr marL="118872" marR="91440" marT="36576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6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해당 저차 항은 기준 penalty</a:t>
                      </a:r>
                    </a:p>
                  </a:txBody>
                  <a:tcPr marL="118872" marR="91440" marT="36576" marB="2286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6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1.0 (default)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6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CPE38의 RK22 이상 선택 항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6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dictionary에 없는 항은 기본값 1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48640" y="5961888"/>
            <a:ext cx="10972800" cy="356616"/>
          </a:xfrm>
          <a:prstGeom prst="roundRect">
            <a:avLst>
              <a:gd name="adj" fmla="val 12000"/>
            </a:avLst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5984748"/>
            <a:ext cx="10652760" cy="28346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150" b="0">
                <a:solidFill>
                  <a:srgbClr val="D88325"/>
                </a:solidFill>
                <a:latin typeface="Noto Sans CJK KR"/>
              </a:defRPr>
            </a:pPr>
            <a:r>
              <a:rPr>
                <a:ea typeface="Noto Sans CJK KR"/>
              </a:rPr>
              <a:t>RK20도 valve dictionary에 있지만 CPE38 Y 항 목록에는 없습니다. λmax만으로 모든 항의 penalty를 설명할 수 없습니다.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D8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060704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000" b="1">
                <a:solidFill>
                  <a:srgbClr val="0D8F9F"/>
                </a:solidFill>
                <a:latin typeface="Noto Sans CJK KR"/>
              </a:defRPr>
            </a:pPr>
            <a:r>
              <a:rPr>
                <a:ea typeface="Noto Sans CJK KR"/>
              </a:rPr>
              <a:t>07 / 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52120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2800" b="1">
                <a:solidFill>
                  <a:srgbClr val="12263D"/>
                </a:solidFill>
                <a:latin typeface="Noto Sans CJK KR"/>
              </a:defRPr>
            </a:pPr>
            <a:r>
              <a:rPr>
                <a:ea typeface="Noto Sans CJK KR"/>
              </a:rPr>
              <a:t>점수가 적으면 탐색 시작 λ를 크게 잡는다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243584"/>
            <a:ext cx="11018520" cy="3474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200" b="0">
                <a:solidFill>
                  <a:srgbClr val="63798D"/>
                </a:solidFill>
                <a:latin typeface="Noto Sans CJK KR"/>
              </a:defRPr>
            </a:pPr>
            <a:r>
              <a:rPr>
                <a:ea typeface="Noto Sans CJK KR"/>
              </a:rPr>
              <a:t>기준은 choose_base_lambda_scale의 고정 구간이며 few_points_flag와 별개입니다.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6473952"/>
            <a:ext cx="11018520" cy="10972"/>
          </a:xfrm>
          <a:prstGeom prst="rect">
            <a:avLst/>
          </a:prstGeom>
          <a:solidFill>
            <a:srgbClr val="D8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7" y="6547104"/>
            <a:ext cx="1065276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850" b="0">
                <a:solidFill>
                  <a:srgbClr val="63798D"/>
                </a:solidFill>
                <a:latin typeface="Noto Sans CJK KR"/>
              </a:defRPr>
            </a:pPr>
            <a:r>
              <a:rPr>
                <a:ea typeface="Noto Sans CJK KR"/>
              </a:rPr>
              <a:t>MERGE/013.py · L204–214, L623–647   |   source 00568f2 · 2026.10.13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37960"/>
            <a:ext cx="393192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5000"/>
              </a:lnSpc>
              <a:spcAft>
                <a:spcPts val="500"/>
              </a:spcAft>
              <a:defRPr sz="1000" b="1">
                <a:solidFill>
                  <a:srgbClr val="0D8F9F"/>
                </a:solidFill>
                <a:latin typeface="Noto Sans CJK KR"/>
              </a:defRPr>
            </a:pPr>
            <a:r>
              <a:rPr>
                <a:ea typeface="Noto Sans CJK KR"/>
              </a:rPr>
              <a:t>13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773936"/>
          <a:ext cx="10972800" cy="32095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3200400"/>
                <a:gridCol w="5029200"/>
              </a:tblGrid>
              <a:tr h="534924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900" b="1">
                          <a:solidFill>
                            <a:srgbClr val="FFFFFF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유효 측정점 수</a:t>
                      </a:r>
                    </a:p>
                  </a:txBody>
                  <a:tcPr marL="118872" marR="91440" marT="36576" marB="22860" anchor="ctr">
                    <a:solidFill>
                      <a:srgbClr val="1226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900" b="1">
                          <a:solidFill>
                            <a:srgbClr val="FFFFFF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base_lambda_scale</a:t>
                      </a:r>
                    </a:p>
                  </a:txBody>
                  <a:tcPr marL="118872" marR="91440" marT="36576" marB="22860" anchor="ctr">
                    <a:solidFill>
                      <a:srgbClr val="1226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900" b="1">
                          <a:solidFill>
                            <a:srgbClr val="FFFFFF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fast 탐색 첫 high λ</a:t>
                      </a:r>
                    </a:p>
                  </a:txBody>
                  <a:tcPr marL="118872" marR="91440" marT="36576" marB="22860" anchor="ctr">
                    <a:solidFill>
                      <a:srgbClr val="12263D"/>
                    </a:solidFill>
                  </a:tcPr>
                </a:tc>
              </a:tr>
              <a:tr h="534924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9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10 이상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9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1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9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0.001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</a:tr>
              <a:tr h="534924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9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7–9</a:t>
                      </a:r>
                    </a:p>
                  </a:txBody>
                  <a:tcPr marL="118872" marR="91440" marT="36576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9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10²</a:t>
                      </a:r>
                    </a:p>
                  </a:txBody>
                  <a:tcPr marL="118872" marR="91440" marT="36576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9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0.1</a:t>
                      </a:r>
                    </a:p>
                  </a:txBody>
                  <a:tcPr marL="118872" marR="91440" marT="36576" marB="22860" anchor="ctr">
                    <a:solidFill>
                      <a:srgbClr val="FFFFFF"/>
                    </a:solidFill>
                  </a:tcPr>
                </a:tc>
              </a:tr>
              <a:tr h="534924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9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5–6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9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10⁴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9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10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</a:tr>
              <a:tr h="534924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9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3–4</a:t>
                      </a:r>
                    </a:p>
                  </a:txBody>
                  <a:tcPr marL="118872" marR="91440" marT="36576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9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10⁶</a:t>
                      </a:r>
                    </a:p>
                  </a:txBody>
                  <a:tcPr marL="118872" marR="91440" marT="36576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9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1000</a:t>
                      </a:r>
                    </a:p>
                  </a:txBody>
                  <a:tcPr marL="118872" marR="91440" marT="36576" marB="22860" anchor="ctr">
                    <a:solidFill>
                      <a:srgbClr val="FFFFFF"/>
                    </a:solidFill>
                  </a:tcPr>
                </a:tc>
              </a:tr>
              <a:tr h="534924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9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1–2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9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10⁸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9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100000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48640" y="5961888"/>
            <a:ext cx="10972800" cy="356616"/>
          </a:xfrm>
          <a:prstGeom prst="roundRect">
            <a:avLst>
              <a:gd name="adj" fmla="val 12000"/>
            </a:avLst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5984748"/>
            <a:ext cx="10652760" cy="28346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150" b="0">
                <a:solidFill>
                  <a:srgbClr val="D88325"/>
                </a:solidFill>
                <a:latin typeface="Noto Sans CJK KR"/>
              </a:defRPr>
            </a:pPr>
            <a:r>
              <a:rPr>
                <a:ea typeface="Noto Sans CJK KR"/>
              </a:rPr>
              <a:t>이 값은 G-opt가 문제일 때만 사용하는 시작값입니다. 적은 점수 자체로 Ridge 실행이나 최종 λ를 강제하지 않습니다.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239512"/>
            <a:ext cx="10698480" cy="42062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600" b="0">
                <a:solidFill>
                  <a:srgbClr val="63798D"/>
                </a:solidFill>
                <a:latin typeface="Noto Sans CJK KR"/>
              </a:defRPr>
            </a:pPr>
            <a:r>
              <a:rPr>
                <a:ea typeface="Noto Sans CJK KR"/>
              </a:rPr>
              <a:t>0점은 skip / 양의 점수는 계산 / rank보다 점수가 많다는 조건은 별도로 검사하지 않음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D8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060704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000" b="1">
                <a:solidFill>
                  <a:srgbClr val="0D8F9F"/>
                </a:solidFill>
                <a:latin typeface="Noto Sans CJK KR"/>
              </a:defRPr>
            </a:pPr>
            <a:r>
              <a:rPr>
                <a:ea typeface="Noto Sans CJK KR"/>
              </a:rPr>
              <a:t>08 / G-OPT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52120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2800" b="1">
                <a:solidFill>
                  <a:srgbClr val="12263D"/>
                </a:solidFill>
                <a:latin typeface="Noto Sans CJK KR"/>
              </a:defRPr>
            </a:pPr>
            <a:r>
              <a:rPr>
                <a:ea typeface="Noto Sans CJK KR"/>
              </a:rPr>
              <a:t>측정 residual 값이 아닌 geometry·λ로 계산한다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243584"/>
            <a:ext cx="11018520" cy="3474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200" b="0">
                <a:solidFill>
                  <a:srgbClr val="63798D"/>
                </a:solidFill>
                <a:latin typeface="Noto Sans CJK KR"/>
              </a:defRPr>
            </a:pPr>
            <a:r>
              <a:rPr>
                <a:ea typeface="Noto Sans CJK KR"/>
              </a:rPr>
              <a:t>X: 실측점 행렬 (n×p), E: 평가점 행렬 (m×p), p=21 또는 17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6473952"/>
            <a:ext cx="11018520" cy="10972"/>
          </a:xfrm>
          <a:prstGeom prst="rect">
            <a:avLst/>
          </a:prstGeom>
          <a:solidFill>
            <a:srgbClr val="D8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7" y="6547104"/>
            <a:ext cx="1065276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850" b="0">
                <a:solidFill>
                  <a:srgbClr val="63798D"/>
                </a:solidFill>
                <a:latin typeface="Noto Sans CJK KR"/>
              </a:defRPr>
            </a:pPr>
            <a:r>
              <a:rPr>
                <a:ea typeface="Noto Sans CJK KR"/>
              </a:rPr>
              <a:t>MERGE/013.py · L406–453   |   source 00568f2 · 2026.10.13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37960"/>
            <a:ext cx="393192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5000"/>
              </a:lnSpc>
              <a:spcAft>
                <a:spcPts val="500"/>
              </a:spcAft>
              <a:defRPr sz="1000" b="1">
                <a:solidFill>
                  <a:srgbClr val="0D8F9F"/>
                </a:solidFill>
                <a:latin typeface="Noto Sans CJK KR"/>
              </a:defRPr>
            </a:pPr>
            <a:r>
              <a:rPr>
                <a:ea typeface="Noto Sans CJK KR"/>
              </a:rPr>
              <a:t>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01368"/>
            <a:ext cx="10972800" cy="1042415"/>
          </a:xfrm>
          <a:prstGeom prst="roundRect">
            <a:avLst>
              <a:gd name="adj" fmla="val 12000"/>
            </a:avLst>
          </a:prstGeom>
          <a:solidFill>
            <a:srgbClr val="12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039112"/>
            <a:ext cx="10332720" cy="6400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2500" b="1">
                <a:solidFill>
                  <a:srgbClr val="FFFFFF"/>
                </a:solidFill>
                <a:latin typeface="Noto Sans CJK KR"/>
              </a:defRPr>
            </a:pPr>
            <a:r>
              <a:rPr>
                <a:ea typeface="Noto Sans CJK KR"/>
              </a:rPr>
              <a:t>A = XᵀX + diag(λ)       H = E A⁻¹ Xᵀ       H의 크기 = m × 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127248"/>
            <a:ext cx="5321808" cy="2414016"/>
          </a:xfrm>
          <a:prstGeom prst="roundRect">
            <a:avLst>
              <a:gd name="adj" fmla="val 12000"/>
            </a:avLst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3127248"/>
            <a:ext cx="50292" cy="2414016"/>
          </a:xfrm>
          <a:prstGeom prst="rect">
            <a:avLst/>
          </a:prstGeom>
          <a:solidFill>
            <a:srgbClr val="0D8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282696"/>
            <a:ext cx="4956048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900" b="1">
                <a:solidFill>
                  <a:srgbClr val="0D8F9F"/>
                </a:solidFill>
                <a:latin typeface="Noto Sans CJK KR"/>
              </a:defRPr>
            </a:pPr>
            <a:r>
              <a:rPr>
                <a:ea typeface="Noto Sans CJK KR"/>
              </a:rPr>
              <a:t>Fitting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803904"/>
            <a:ext cx="4956048" cy="165506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2200" b="0">
                <a:solidFill>
                  <a:srgbClr val="22384D"/>
                </a:solidFill>
                <a:latin typeface="Noto Sans CJK KR"/>
              </a:defRPr>
            </a:pPr>
            <a:r>
              <a:rPr>
                <a:ea typeface="Noto Sans CJK KR"/>
              </a:rPr>
              <a:t>β = A⁻¹ Xᵀy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2200" b="0">
                <a:solidFill>
                  <a:srgbClr val="22384D"/>
                </a:solidFill>
                <a:latin typeface="Noto Sans CJK KR"/>
              </a:defRPr>
            </a:pPr>
            <a:r>
              <a:rPr>
                <a:ea typeface="Noto Sans CJK KR"/>
              </a:rPr>
              <a:t>측정점의 y로 계수를 구함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2200" b="0">
                <a:solidFill>
                  <a:srgbClr val="22384D"/>
                </a:solidFill>
                <a:latin typeface="Noto Sans CJK KR"/>
              </a:defRPr>
            </a:pPr>
            <a:r>
              <a:rPr>
                <a:ea typeface="Noto Sans CJK KR"/>
              </a:rPr>
              <a:t>pred_meas = Xβ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3127248"/>
            <a:ext cx="5394960" cy="2414016"/>
          </a:xfrm>
          <a:prstGeom prst="roundRect">
            <a:avLst>
              <a:gd name="adj" fmla="val 12000"/>
            </a:avLst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26480" y="3127248"/>
            <a:ext cx="50292" cy="2414016"/>
          </a:xfrm>
          <a:prstGeom prst="rect">
            <a:avLst/>
          </a:prstGeom>
          <a:solidFill>
            <a:srgbClr val="D88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3282696"/>
            <a:ext cx="50292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900" b="1">
                <a:solidFill>
                  <a:srgbClr val="D88325"/>
                </a:solidFill>
                <a:latin typeface="Noto Sans CJK KR"/>
              </a:defRPr>
            </a:pPr>
            <a:r>
              <a:rPr>
                <a:ea typeface="Noto Sans CJK KR"/>
              </a:rPr>
              <a:t>G-opt evaluation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803904"/>
            <a:ext cx="5029200" cy="165506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800" b="0">
                <a:solidFill>
                  <a:srgbClr val="22384D"/>
                </a:solidFill>
                <a:latin typeface="Noto Sans CJK KR"/>
              </a:defRPr>
            </a:pPr>
            <a:r>
              <a:rPr>
                <a:ea typeface="Noto Sans CJK KR"/>
              </a:rPr>
              <a:t>X, E, λ만으로 계산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800" b="0">
                <a:solidFill>
                  <a:srgbClr val="22384D"/>
                </a:solidFill>
                <a:latin typeface="Noto Sans CJK KR"/>
              </a:defRPr>
            </a:pPr>
          </a:p>
          <a:p>
            <a:pPr>
              <a:lnSpc>
                <a:spcPct val="105000"/>
              </a:lnSpc>
              <a:spcAft>
                <a:spcPts val="500"/>
              </a:spcAft>
              <a:defRPr sz="1800" b="0">
                <a:solidFill>
                  <a:srgbClr val="22384D"/>
                </a:solidFill>
                <a:latin typeface="Noto Sans CJK KR"/>
              </a:defRPr>
            </a:pPr>
            <a:r>
              <a:rPr>
                <a:ea typeface="Noto Sans CJK KR"/>
              </a:rPr>
              <a:t>동일 geometry·λ라면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800" b="0">
                <a:solidFill>
                  <a:srgbClr val="22384D"/>
                </a:solidFill>
                <a:latin typeface="Noto Sans CJK KR"/>
              </a:defRPr>
            </a:pPr>
            <a:r>
              <a:rPr>
                <a:ea typeface="Noto Sans CJK KR"/>
              </a:rPr>
              <a:t>residual 크기를 바꿔도 G-opt는 동일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961888"/>
            <a:ext cx="10972800" cy="356616"/>
          </a:xfrm>
          <a:prstGeom prst="roundRect">
            <a:avLst>
              <a:gd name="adj" fmla="val 12000"/>
            </a:avLst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4944" y="5984748"/>
            <a:ext cx="10652760" cy="28346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150" b="0">
                <a:solidFill>
                  <a:srgbClr val="D88325"/>
                </a:solidFill>
                <a:latin typeface="Noto Sans CJK KR"/>
              </a:defRPr>
            </a:pPr>
            <a:r>
              <a:rPr>
                <a:ea typeface="Noto Sans CJK KR"/>
              </a:rPr>
              <a:t>A⁻¹은 inv가 실패할 때 pinv로 대체됩니다. G-opt spec은 overlay 허용 오차나 rework 기준값이 아닙니다.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D8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060704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000" b="1">
                <a:solidFill>
                  <a:srgbClr val="0D8F9F"/>
                </a:solidFill>
                <a:latin typeface="Noto Sans CJK KR"/>
              </a:defRPr>
            </a:pPr>
            <a:r>
              <a:rPr>
                <a:ea typeface="Noto Sans CJK KR"/>
              </a:rPr>
              <a:t>08 / G-OPT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52120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2800" b="1">
                <a:solidFill>
                  <a:srgbClr val="12263D"/>
                </a:solidFill>
                <a:latin typeface="Noto Sans CJK KR"/>
              </a:defRPr>
            </a:pPr>
            <a:r>
              <a:rPr>
                <a:ea typeface="Noto Sans CJK KR"/>
              </a:rPr>
              <a:t>지원하는 Type 1–4: 실제 코드의 정의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243584"/>
            <a:ext cx="11018520" cy="3474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200" b="0">
                <a:solidFill>
                  <a:srgbClr val="63798D"/>
                </a:solidFill>
                <a:latin typeface="Noto Sans CJK KR"/>
              </a:defRPr>
            </a:pPr>
            <a:r>
              <a:rPr>
                <a:ea typeface="Noto Sans CJK KR"/>
              </a:rPr>
              <a:t>주석·docstring보다 실행되는 반환식을 기준으로 정리했습니다.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6473952"/>
            <a:ext cx="11018520" cy="10972"/>
          </a:xfrm>
          <a:prstGeom prst="rect">
            <a:avLst/>
          </a:prstGeom>
          <a:solidFill>
            <a:srgbClr val="D8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7" y="6547104"/>
            <a:ext cx="1065276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850" b="0">
                <a:solidFill>
                  <a:srgbClr val="63798D"/>
                </a:solidFill>
                <a:latin typeface="Noto Sans CJK KR"/>
              </a:defRPr>
            </a:pPr>
            <a:r>
              <a:rPr>
                <a:ea typeface="Noto Sans CJK KR"/>
              </a:rPr>
              <a:t>MERGE/013.py · L406–453   |   source 00568f2 · 2026.10.13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37960"/>
            <a:ext cx="393192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5000"/>
              </a:lnSpc>
              <a:spcAft>
                <a:spcPts val="500"/>
              </a:spcAft>
              <a:defRPr sz="1000" b="1">
                <a:solidFill>
                  <a:srgbClr val="0D8F9F"/>
                </a:solidFill>
                <a:latin typeface="Noto Sans CJK KR"/>
              </a:defRPr>
            </a:pPr>
            <a:r>
              <a:rPr>
                <a:ea typeface="Noto Sans CJK KR"/>
              </a:rPr>
              <a:t>15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773936"/>
          <a:ext cx="10972800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5029200"/>
                <a:gridCol w="5029200"/>
              </a:tblGrid>
              <a:tr h="649224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800" b="1">
                          <a:solidFill>
                            <a:srgbClr val="FFFFFF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Type</a:t>
                      </a:r>
                    </a:p>
                  </a:txBody>
                  <a:tcPr marL="118872" marR="91440" marT="36576" marB="22860" anchor="ctr">
                    <a:solidFill>
                      <a:srgbClr val="1226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800" b="1">
                          <a:solidFill>
                            <a:srgbClr val="FFFFFF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실제 반환식</a:t>
                      </a:r>
                    </a:p>
                  </a:txBody>
                  <a:tcPr marL="118872" marR="91440" marT="36576" marB="22860" anchor="ctr">
                    <a:solidFill>
                      <a:srgbClr val="1226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800" b="1">
                          <a:solidFill>
                            <a:srgbClr val="FFFFFF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해석 / 현재 사용</a:t>
                      </a:r>
                    </a:p>
                  </a:txBody>
                  <a:tcPr marL="118872" marR="91440" marT="36576" marB="22860" anchor="ctr">
                    <a:solidFill>
                      <a:srgbClr val="12263D"/>
                    </a:solidFill>
                  </a:tcPr>
                </a:tc>
              </a:tr>
              <a:tr h="649224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8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1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8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√ maxᵢ Σⱼ Hᵢⱼ²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8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평가점의 최대 noise gain / 현재 기본값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</a:tr>
              <a:tr h="649224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8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2</a:t>
                      </a:r>
                    </a:p>
                  </a:txBody>
                  <a:tcPr marL="118872" marR="91440" marT="36576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8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√ maxᵢⱼ Hᵢⱼ</a:t>
                      </a:r>
                    </a:p>
                  </a:txBody>
                  <a:tcPr marL="118872" marR="91440" marT="36576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8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signed max 사용. max가 음수이면 999 반환</a:t>
                      </a:r>
                    </a:p>
                  </a:txBody>
                  <a:tcPr marL="118872" marR="91440" marT="36576" marB="22860" anchor="ctr">
                    <a:solidFill>
                      <a:srgbClr val="FFFFFF"/>
                    </a:solidFill>
                  </a:tcPr>
                </a:tc>
              </a:tr>
              <a:tr h="649224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8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3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8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√ max diag(E A⁻¹ Eᵀ)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8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information inverse 기반 평가 지표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</a:tr>
              <a:tr h="649224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8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4</a:t>
                      </a:r>
                    </a:p>
                  </a:txBody>
                  <a:tcPr marL="118872" marR="91440" marT="36576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8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inner: Type 2 / partial: Type 1</a:t>
                      </a:r>
                    </a:p>
                  </a:txBody>
                  <a:tcPr marL="118872" marR="91440" marT="36576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8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점수 비교에 따라 Type을 전환</a:t>
                      </a:r>
                    </a:p>
                  </a:txBody>
                  <a:tcPr marL="118872" marR="91440" marT="36576" marB="2286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48640" y="5961888"/>
            <a:ext cx="10972800" cy="356616"/>
          </a:xfrm>
          <a:prstGeom prst="roundRect">
            <a:avLst>
              <a:gd name="adj" fmla="val 12000"/>
            </a:avLst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5984748"/>
            <a:ext cx="10652760" cy="28346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150" b="0">
                <a:solidFill>
                  <a:srgbClr val="D88325"/>
                </a:solidFill>
                <a:latin typeface="Noto Sans CJK KR"/>
              </a:defRPr>
            </a:pPr>
            <a:r>
              <a:rPr>
                <a:ea typeface="Noto Sans CJK KR"/>
              </a:rPr>
              <a:t>Type 2는 |H|의 최대값이 아닙니다. 현재 기본 Type 1이므로 inner/partial 표기가 계산식 선택을 바꾸지는 않습니다.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D8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060704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000" b="1">
                <a:solidFill>
                  <a:srgbClr val="0D8F9F"/>
                </a:solidFill>
                <a:latin typeface="Noto Sans CJK KR"/>
              </a:defRPr>
            </a:pPr>
            <a:r>
              <a:rPr>
                <a:ea typeface="Noto Sans CJK KR"/>
              </a:rPr>
              <a:t>08 / G-OPT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52120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2800" b="1">
                <a:solidFill>
                  <a:srgbClr val="12263D"/>
                </a:solidFill>
                <a:latin typeface="Noto Sans CJK KR"/>
              </a:defRPr>
            </a:pPr>
            <a:r>
              <a:rPr>
                <a:ea typeface="Noto Sans CJK KR"/>
              </a:rPr>
              <a:t>기본 Type 1: 평가점에서 측정 noise가 얼마나 증폭되는가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243584"/>
            <a:ext cx="11018520" cy="3474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200" b="0">
                <a:solidFill>
                  <a:srgbClr val="63798D"/>
                </a:solidFill>
                <a:latin typeface="Noto Sans CJK KR"/>
              </a:defRPr>
            </a:pPr>
            <a:r>
              <a:rPr>
                <a:ea typeface="Noto Sans CJK KR"/>
              </a:rPr>
              <a:t>독립·동일 분산 측정 noise를 가정했을 때의 해석입니다.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6473952"/>
            <a:ext cx="11018520" cy="10972"/>
          </a:xfrm>
          <a:prstGeom prst="rect">
            <a:avLst/>
          </a:prstGeom>
          <a:solidFill>
            <a:srgbClr val="D8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7" y="6547104"/>
            <a:ext cx="1065276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850" b="0">
                <a:solidFill>
                  <a:srgbClr val="63798D"/>
                </a:solidFill>
                <a:latin typeface="Noto Sans CJK KR"/>
              </a:defRPr>
            </a:pPr>
            <a:r>
              <a:rPr>
                <a:ea typeface="Noto Sans CJK KR"/>
              </a:rPr>
              <a:t>MERGE/013.py · L429–435   |   source 00568f2 · 2026.10.13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37960"/>
            <a:ext cx="393192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5000"/>
              </a:lnSpc>
              <a:spcAft>
                <a:spcPts val="500"/>
              </a:spcAft>
              <a:defRPr sz="1000" b="1">
                <a:solidFill>
                  <a:srgbClr val="0D8F9F"/>
                </a:solidFill>
                <a:latin typeface="Noto Sans CJK KR"/>
              </a:defRPr>
            </a:pPr>
            <a:r>
              <a:rPr>
                <a:ea typeface="Noto Sans CJK KR"/>
              </a:rPr>
              <a:t>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28800"/>
            <a:ext cx="10972800" cy="896112"/>
          </a:xfrm>
          <a:prstGeom prst="roundRect">
            <a:avLst>
              <a:gd name="adj" fmla="val 12000"/>
            </a:avLst>
          </a:prstGeom>
          <a:solidFill>
            <a:srgbClr val="12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002536"/>
            <a:ext cx="10332720" cy="5486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2500" b="1">
                <a:solidFill>
                  <a:srgbClr val="FFFFFF"/>
                </a:solidFill>
                <a:latin typeface="Noto Sans CJK KR"/>
              </a:defRPr>
            </a:pPr>
            <a:r>
              <a:rPr>
                <a:ea typeface="Noto Sans CJK KR"/>
              </a:rPr>
              <a:t>Var(pred_eval) = σ² H Hᵀ     →     G₁ = max SD(pred_eval) / σ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063240"/>
            <a:ext cx="5321808" cy="2468880"/>
          </a:xfrm>
          <a:prstGeom prst="roundRect">
            <a:avLst>
              <a:gd name="adj" fmla="val 12000"/>
            </a:avLst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3063240"/>
            <a:ext cx="50292" cy="2468880"/>
          </a:xfrm>
          <a:prstGeom prst="rect">
            <a:avLst/>
          </a:prstGeom>
          <a:solidFill>
            <a:srgbClr val="0D8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218688"/>
            <a:ext cx="4956048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900" b="1">
                <a:solidFill>
                  <a:srgbClr val="0D8F9F"/>
                </a:solidFill>
                <a:latin typeface="Noto Sans CJK KR"/>
              </a:defRPr>
            </a:pPr>
            <a:r>
              <a:rPr>
                <a:ea typeface="Noto Sans CJK KR"/>
              </a:rPr>
              <a:t>G &lt;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739896"/>
            <a:ext cx="4956048" cy="1709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800" b="0">
                <a:solidFill>
                  <a:srgbClr val="22384D"/>
                </a:solidFill>
                <a:latin typeface="Noto Sans CJK KR"/>
              </a:defRPr>
            </a:pPr>
            <a:r>
              <a:rPr>
                <a:ea typeface="Noto Sans CJK KR"/>
              </a:rPr>
              <a:t>평가점의 예측 noise 표준편차가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800" b="0">
                <a:solidFill>
                  <a:srgbClr val="22384D"/>
                </a:solidFill>
                <a:latin typeface="Noto Sans CJK KR"/>
              </a:defRPr>
            </a:pPr>
            <a:r>
              <a:rPr>
                <a:ea typeface="Noto Sans CJK KR"/>
              </a:rPr>
              <a:t>개별 측정 noise보다 작음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800" b="0">
                <a:solidFill>
                  <a:srgbClr val="22384D"/>
                </a:solidFill>
                <a:latin typeface="Noto Sans CJK KR"/>
              </a:defRPr>
            </a:pPr>
          </a:p>
          <a:p>
            <a:pPr>
              <a:lnSpc>
                <a:spcPct val="105000"/>
              </a:lnSpc>
              <a:spcAft>
                <a:spcPts val="500"/>
              </a:spcAft>
              <a:defRPr sz="1800" b="0">
                <a:solidFill>
                  <a:srgbClr val="22384D"/>
                </a:solidFill>
                <a:latin typeface="Noto Sans CJK KR"/>
              </a:defRPr>
            </a:pPr>
            <a:r>
              <a:rPr>
                <a:ea typeface="Noto Sans CJK KR"/>
              </a:rPr>
              <a:t>현재 code target: 0.999 ≤ G &lt; 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3063240"/>
            <a:ext cx="5394960" cy="2468880"/>
          </a:xfrm>
          <a:prstGeom prst="roundRect">
            <a:avLst>
              <a:gd name="adj" fmla="val 12000"/>
            </a:avLst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26480" y="3063240"/>
            <a:ext cx="50292" cy="2468880"/>
          </a:xfrm>
          <a:prstGeom prst="rect">
            <a:avLst/>
          </a:prstGeom>
          <a:solidFill>
            <a:srgbClr val="D88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3218688"/>
            <a:ext cx="50292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900" b="1">
                <a:solidFill>
                  <a:srgbClr val="D88325"/>
                </a:solidFill>
                <a:latin typeface="Noto Sans CJK KR"/>
              </a:defRPr>
            </a:pPr>
            <a:r>
              <a:rPr>
                <a:ea typeface="Noto Sans CJK KR"/>
              </a:rPr>
              <a:t>함께 확인할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739896"/>
            <a:ext cx="5029200" cy="1709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800" b="0">
                <a:solidFill>
                  <a:srgbClr val="22384D"/>
                </a:solidFill>
                <a:latin typeface="Noto Sans CJK KR"/>
              </a:defRPr>
            </a:pPr>
            <a:r>
              <a:rPr>
                <a:ea typeface="Noto Sans CJK KR"/>
              </a:rPr>
              <a:t>λ가 커지면 variance는 줄지만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800" b="0">
                <a:solidFill>
                  <a:srgbClr val="22384D"/>
                </a:solidFill>
                <a:latin typeface="Noto Sans CJK KR"/>
              </a:defRPr>
            </a:pPr>
            <a:r>
              <a:rPr>
                <a:ea typeface="Noto Sans CJK KR"/>
              </a:rPr>
              <a:t>signal의 fitting bias는 커질 수 있음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800" b="0">
                <a:solidFill>
                  <a:srgbClr val="22384D"/>
                </a:solidFill>
                <a:latin typeface="Noto Sans CJK KR"/>
              </a:defRPr>
            </a:pPr>
          </a:p>
          <a:p>
            <a:pPr>
              <a:lnSpc>
                <a:spcPct val="105000"/>
              </a:lnSpc>
              <a:spcAft>
                <a:spcPts val="500"/>
              </a:spcAft>
              <a:defRPr sz="1800" b="0">
                <a:solidFill>
                  <a:srgbClr val="22384D"/>
                </a:solidFill>
                <a:latin typeface="Noto Sans CJK KR"/>
              </a:defRPr>
            </a:pPr>
            <a:r>
              <a:rPr>
                <a:ea typeface="Noto Sans CJK KR"/>
              </a:rPr>
              <a:t>평가 영역·실측 coverage가 G를 좌우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961888"/>
            <a:ext cx="10972800" cy="356616"/>
          </a:xfrm>
          <a:prstGeom prst="roundRect">
            <a:avLst>
              <a:gd name="adj" fmla="val 12000"/>
            </a:avLst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4944" y="5984748"/>
            <a:ext cx="10652760" cy="28346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150" b="0">
                <a:solidFill>
                  <a:srgbClr val="D88325"/>
                </a:solidFill>
                <a:latin typeface="Noto Sans CJK KR"/>
              </a:defRPr>
            </a:pPr>
            <a:r>
              <a:rPr>
                <a:ea typeface="Noto Sans CJK KR"/>
              </a:rPr>
              <a:t>이 해석은 unconstrained Ridge의 선형 영향도입니다. Span box가 활성화된 최종 estimator의 noise를 그대로 나타내지는 않습니다.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D8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060704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000" b="1">
                <a:solidFill>
                  <a:srgbClr val="0D8F9F"/>
                </a:solidFill>
                <a:latin typeface="Noto Sans CJK KR"/>
              </a:defRPr>
            </a:pPr>
            <a:r>
              <a:rPr>
                <a:ea typeface="Noto Sans CJK KR"/>
              </a:rPr>
              <a:t>09 / LAMBDA 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52120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2800" b="1">
                <a:solidFill>
                  <a:srgbClr val="12263D"/>
                </a:solidFill>
                <a:latin typeface="Noto Sans CJK KR"/>
              </a:defRPr>
            </a:pPr>
            <a:r>
              <a:rPr>
                <a:ea typeface="Noto Sans CJK KR"/>
              </a:rPr>
              <a:t>λ=0에서 시작 → fast expand → binary refine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243584"/>
            <a:ext cx="11018520" cy="3474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200" b="0">
                <a:solidFill>
                  <a:srgbClr val="63798D"/>
                </a:solidFill>
                <a:latin typeface="Noto Sans CJK KR"/>
              </a:defRPr>
            </a:pPr>
            <a:r>
              <a:rPr>
                <a:ea typeface="Noto Sans CJK KR"/>
              </a:rPr>
              <a:t>Ridge=True여도 최초 fit은 OLS 또는 pinv 경로입니다.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6473952"/>
            <a:ext cx="11018520" cy="10972"/>
          </a:xfrm>
          <a:prstGeom prst="rect">
            <a:avLst/>
          </a:prstGeom>
          <a:solidFill>
            <a:srgbClr val="D8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7" y="6547104"/>
            <a:ext cx="1065276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850" b="0">
                <a:solidFill>
                  <a:srgbClr val="63798D"/>
                </a:solidFill>
                <a:latin typeface="Noto Sans CJK KR"/>
              </a:defRPr>
            </a:pPr>
            <a:r>
              <a:rPr>
                <a:ea typeface="Noto Sans CJK KR"/>
              </a:rPr>
              <a:t>MERGE/013.py · L623–694   |   source 00568f2 · 2026.10.13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37960"/>
            <a:ext cx="393192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5000"/>
              </a:lnSpc>
              <a:spcAft>
                <a:spcPts val="500"/>
              </a:spcAft>
              <a:defRPr sz="1000" b="1">
                <a:solidFill>
                  <a:srgbClr val="0D8F9F"/>
                </a:solidFill>
                <a:latin typeface="Noto Sans CJK KR"/>
              </a:defRPr>
            </a:pPr>
            <a:r>
              <a:rPr>
                <a:ea typeface="Noto Sans CJK KR"/>
              </a:rPr>
              <a:t>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56231"/>
            <a:ext cx="2532888" cy="2770632"/>
          </a:xfrm>
          <a:prstGeom prst="roundRect">
            <a:avLst>
              <a:gd name="adj" fmla="val 12000"/>
            </a:avLst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856231"/>
            <a:ext cx="50292" cy="2770632"/>
          </a:xfrm>
          <a:prstGeom prst="rect">
            <a:avLst/>
          </a:prstGeom>
          <a:solidFill>
            <a:srgbClr val="0D8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011679"/>
            <a:ext cx="2167128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900" b="1">
                <a:solidFill>
                  <a:srgbClr val="0D8F9F"/>
                </a:solidFill>
                <a:latin typeface="Noto Sans CJK KR"/>
              </a:defRPr>
            </a:pPr>
            <a:r>
              <a:rPr>
                <a:ea typeface="Noto Sans CJK KR"/>
              </a:rPr>
              <a:t>1  초기 fit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532887"/>
            <a:ext cx="2167128" cy="2011679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600" b="0">
                <a:solidFill>
                  <a:srgbClr val="22384D"/>
                </a:solidFill>
                <a:latin typeface="Noto Sans CJK KR"/>
              </a:defRPr>
            </a:pPr>
            <a:r>
              <a:rPr>
                <a:ea typeface="Noto Sans CJK KR"/>
              </a:rPr>
              <a:t>λbase = 0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600" b="0">
                <a:solidFill>
                  <a:srgbClr val="22384D"/>
                </a:solidFill>
                <a:latin typeface="Noto Sans CJK KR"/>
              </a:defRPr>
            </a:pPr>
            <a:r>
              <a:rPr>
                <a:ea typeface="Noto Sans CJK KR"/>
              </a:rPr>
              <a:t>G를 먼저 계산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27248" y="2770632"/>
            <a:ext cx="219456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2200" b="1">
                <a:solidFill>
                  <a:srgbClr val="63798D"/>
                </a:solidFill>
                <a:latin typeface="Noto Sans CJK KR"/>
              </a:defRPr>
            </a:pPr>
            <a:r>
              <a:rPr>
                <a:ea typeface="Noto Sans CJK KR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64992" y="1856231"/>
            <a:ext cx="2532888" cy="2770632"/>
          </a:xfrm>
          <a:prstGeom prst="roundRect">
            <a:avLst>
              <a:gd name="adj" fmla="val 12000"/>
            </a:avLst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64992" y="1856231"/>
            <a:ext cx="50292" cy="2770632"/>
          </a:xfrm>
          <a:prstGeom prst="rect">
            <a:avLst/>
          </a:prstGeom>
          <a:solidFill>
            <a:srgbClr val="0D8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47872" y="2011679"/>
            <a:ext cx="2167128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900" b="1">
                <a:solidFill>
                  <a:srgbClr val="0D8F9F"/>
                </a:solidFill>
                <a:latin typeface="Noto Sans CJK KR"/>
              </a:defRPr>
            </a:pPr>
            <a:r>
              <a:rPr>
                <a:ea typeface="Noto Sans CJK KR"/>
              </a:rPr>
              <a:t>2  실행 조건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47872" y="2532887"/>
            <a:ext cx="2167128" cy="2011679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600" b="0">
                <a:solidFill>
                  <a:srgbClr val="22384D"/>
                </a:solidFill>
                <a:latin typeface="Noto Sans CJK KR"/>
              </a:defRPr>
            </a:pPr>
            <a:r>
              <a:rPr>
                <a:ea typeface="Noto Sans CJK KR"/>
              </a:rPr>
              <a:t>G 비유한값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600" b="0">
                <a:solidFill>
                  <a:srgbClr val="22384D"/>
                </a:solidFill>
                <a:latin typeface="Noto Sans CJK KR"/>
              </a:defRPr>
            </a:pPr>
            <a:r>
              <a:rPr>
                <a:ea typeface="Noto Sans CJK KR"/>
              </a:rPr>
              <a:t>또는 G ≥ spec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600" b="0">
                <a:solidFill>
                  <a:srgbClr val="22384D"/>
                </a:solidFill>
                <a:latin typeface="Noto Sans CJK KR"/>
              </a:defRPr>
            </a:pPr>
            <a:r>
              <a:rPr>
                <a:ea typeface="Noto Sans CJK KR"/>
              </a:rPr>
              <a:t>또는 G = 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2770632"/>
            <a:ext cx="219456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2200" b="1">
                <a:solidFill>
                  <a:srgbClr val="63798D"/>
                </a:solidFill>
                <a:latin typeface="Noto Sans CJK KR"/>
              </a:defRPr>
            </a:pPr>
            <a:r>
              <a:rPr>
                <a:ea typeface="Noto Sans CJK KR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81344" y="1856231"/>
            <a:ext cx="2532888" cy="2770632"/>
          </a:xfrm>
          <a:prstGeom prst="roundRect">
            <a:avLst>
              <a:gd name="adj" fmla="val 12000"/>
            </a:avLst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81344" y="1856231"/>
            <a:ext cx="50292" cy="2770632"/>
          </a:xfrm>
          <a:prstGeom prst="rect">
            <a:avLst/>
          </a:prstGeom>
          <a:solidFill>
            <a:srgbClr val="D88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64224" y="2011679"/>
            <a:ext cx="2167128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900" b="1">
                <a:solidFill>
                  <a:srgbClr val="D88325"/>
                </a:solidFill>
                <a:latin typeface="Noto Sans CJK KR"/>
              </a:defRPr>
            </a:pPr>
            <a:r>
              <a:rPr>
                <a:ea typeface="Noto Sans CJK KR"/>
              </a:rPr>
              <a:t>3  fast expand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64224" y="2532887"/>
            <a:ext cx="2167128" cy="2011679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600" b="0">
                <a:solidFill>
                  <a:srgbClr val="22384D"/>
                </a:solidFill>
                <a:latin typeface="Noto Sans CJK KR"/>
              </a:defRPr>
            </a:pPr>
            <a:r>
              <a:rPr>
                <a:ea typeface="Noto Sans CJK KR"/>
              </a:rPr>
              <a:t>첫 high λ ≥ 0.001×scale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600" b="0">
                <a:solidFill>
                  <a:srgbClr val="22384D"/>
                </a:solidFill>
                <a:latin typeface="Noto Sans CJK KR"/>
              </a:defRPr>
            </a:pPr>
            <a:r>
              <a:rPr>
                <a:ea typeface="Noto Sans CJK KR"/>
              </a:rPr>
              <a:t>G ≥ 1이면 λ×10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600" b="0">
                <a:solidFill>
                  <a:srgbClr val="22384D"/>
                </a:solidFill>
                <a:latin typeface="Noto Sans CJK KR"/>
              </a:defRPr>
            </a:pPr>
            <a:r>
              <a:rPr>
                <a:ea typeface="Noto Sans CJK KR"/>
              </a:rPr>
              <a:t>최대 50회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59952" y="2770632"/>
            <a:ext cx="219456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2200" b="1">
                <a:solidFill>
                  <a:srgbClr val="63798D"/>
                </a:solidFill>
                <a:latin typeface="Noto Sans CJK KR"/>
              </a:defRPr>
            </a:pPr>
            <a:r>
              <a:rPr>
                <a:ea typeface="Noto Sans CJK KR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97696" y="1856231"/>
            <a:ext cx="2532888" cy="2770632"/>
          </a:xfrm>
          <a:prstGeom prst="roundRect">
            <a:avLst>
              <a:gd name="adj" fmla="val 12000"/>
            </a:avLst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97696" y="1856231"/>
            <a:ext cx="50292" cy="2770632"/>
          </a:xfrm>
          <a:prstGeom prst="rect">
            <a:avLst/>
          </a:prstGeom>
          <a:solidFill>
            <a:srgbClr val="D88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80576" y="2011679"/>
            <a:ext cx="2167128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900" b="1">
                <a:solidFill>
                  <a:srgbClr val="D88325"/>
                </a:solidFill>
                <a:latin typeface="Noto Sans CJK KR"/>
              </a:defRPr>
            </a:pPr>
            <a:r>
              <a:rPr>
                <a:ea typeface="Noto Sans CJK KR"/>
              </a:rPr>
              <a:t>4  refine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80576" y="2532887"/>
            <a:ext cx="2167128" cy="2011679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600" b="0">
                <a:solidFill>
                  <a:srgbClr val="22384D"/>
                </a:solidFill>
                <a:latin typeface="Noto Sans CJK KR"/>
              </a:defRPr>
            </a:pPr>
            <a:r>
              <a:rPr>
                <a:ea typeface="Noto Sans CJK KR"/>
              </a:rPr>
              <a:t>high G &lt; 1이면 이분탐색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600" b="0">
                <a:solidFill>
                  <a:srgbClr val="22384D"/>
                </a:solidFill>
                <a:latin typeface="Noto Sans CJK KR"/>
              </a:defRPr>
            </a:pPr>
            <a:r>
              <a:rPr>
                <a:ea typeface="Noto Sans CJK KR"/>
              </a:rPr>
              <a:t>목표 [0.999, 1)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600" b="0">
                <a:solidFill>
                  <a:srgbClr val="22384D"/>
                </a:solidFill>
                <a:latin typeface="Noto Sans CJK KR"/>
              </a:defRPr>
            </a:pPr>
            <a:r>
              <a:rPr>
                <a:ea typeface="Noto Sans CJK KR"/>
              </a:rPr>
              <a:t>최대 50회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" y="4910328"/>
            <a:ext cx="10744200" cy="7498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800" b="0">
                <a:solidFill>
                  <a:srgbClr val="22384D"/>
                </a:solidFill>
                <a:latin typeface="Noto Sans CJK KR"/>
              </a:defRPr>
            </a:pPr>
            <a:r>
              <a:rPr>
                <a:ea typeface="Noto Sans CJK KR"/>
              </a:rPr>
              <a:t>추가 종료: |hi − lo| &lt; max(0.001×10⁻³, 10⁻¹²) = 10⁻⁶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800" b="0">
                <a:solidFill>
                  <a:srgbClr val="22384D"/>
                </a:solidFill>
                <a:latin typeface="Noto Sans CJK KR"/>
              </a:defRPr>
            </a:pPr>
            <a:r>
              <a:rPr>
                <a:ea typeface="Noto Sans CJK KR"/>
              </a:rPr>
              <a:t>탐색은 λ 증가에 따라 G가 감소한다고 가정합니다.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5961888"/>
            <a:ext cx="10972800" cy="356616"/>
          </a:xfrm>
          <a:prstGeom prst="roundRect">
            <a:avLst>
              <a:gd name="adj" fmla="val 12000"/>
            </a:avLst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4944" y="5984748"/>
            <a:ext cx="10652760" cy="28346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150" b="0">
                <a:solidFill>
                  <a:srgbClr val="D88325"/>
                </a:solidFill>
                <a:latin typeface="Noto Sans CJK KR"/>
              </a:defRPr>
            </a:pPr>
            <a:r>
              <a:rPr>
                <a:ea typeface="Noto Sans CJK KR"/>
              </a:rPr>
              <a:t>최대 반복에 도달해도 spec 미달성을 오류로 처리하지 않습니다. 최종 G와 pass 여부를 별도로 확인해야 합니다.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D8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060704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000" b="1">
                <a:solidFill>
                  <a:srgbClr val="0D8F9F"/>
                </a:solidFill>
                <a:latin typeface="Noto Sans CJK KR"/>
              </a:defRPr>
            </a:pPr>
            <a:r>
              <a:rPr>
                <a:ea typeface="Noto Sans CJK KR"/>
              </a:rPr>
              <a:t>09 / LAMBDA 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52120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2800" b="1">
                <a:solidFill>
                  <a:srgbClr val="12263D"/>
                </a:solidFill>
                <a:latin typeface="Noto Sans CJK KR"/>
              </a:defRPr>
            </a:pPr>
            <a:r>
              <a:rPr>
                <a:ea typeface="Noto Sans CJK KR"/>
              </a:rPr>
              <a:t>합성 예제: G-opt를 spec 근처까지 낮춘다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243584"/>
            <a:ext cx="11018520" cy="3474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200" b="0">
                <a:solidFill>
                  <a:srgbClr val="63798D"/>
                </a:solidFill>
                <a:latin typeface="Noto Sans CJK KR"/>
              </a:defRPr>
            </a:pPr>
            <a:r>
              <a:rPr>
                <a:ea typeface="Noto Sans CJK KR"/>
              </a:rPr>
              <a:t>32개 실측점은 shot 내부에 모여 있고 평가점은 3×3 chip 전체를 덮습니다.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6473952"/>
            <a:ext cx="11018520" cy="10972"/>
          </a:xfrm>
          <a:prstGeom prst="rect">
            <a:avLst/>
          </a:prstGeom>
          <a:solidFill>
            <a:srgbClr val="D8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7" y="6547104"/>
            <a:ext cx="1065276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850" b="0">
                <a:solidFill>
                  <a:srgbClr val="63798D"/>
                </a:solidFill>
                <a:latin typeface="Noto Sans CJK KR"/>
              </a:defRPr>
            </a:pPr>
            <a:r>
              <a:rPr>
                <a:ea typeface="Noto Sans CJK KR"/>
              </a:rPr>
              <a:t>MERGE/013.py · L623–694 / 합성 seed=16   |   source 00568f2 · 2026.10.13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37960"/>
            <a:ext cx="393192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5000"/>
              </a:lnSpc>
              <a:spcAft>
                <a:spcPts val="500"/>
              </a:spcAft>
              <a:defRPr sz="1000" b="1">
                <a:solidFill>
                  <a:srgbClr val="0D8F9F"/>
                </a:solidFill>
                <a:latin typeface="Noto Sans CJK KR"/>
              </a:defRPr>
            </a:pPr>
            <a:r>
              <a:rPr>
                <a:ea typeface="Noto Sans CJK KR"/>
              </a:rPr>
              <a:t>18</a:t>
            </a:r>
          </a:p>
        </p:txBody>
      </p:sp>
      <p:pic>
        <p:nvPicPr>
          <p:cNvPr id="9" name="Picture 8" descr="gopt_se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783080"/>
            <a:ext cx="10927080" cy="3134942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48640" y="5961888"/>
            <a:ext cx="10972800" cy="356616"/>
          </a:xfrm>
          <a:prstGeom prst="roundRect">
            <a:avLst>
              <a:gd name="adj" fmla="val 12000"/>
            </a:avLst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5984748"/>
            <a:ext cx="10652760" cy="28346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150" b="0">
                <a:solidFill>
                  <a:srgbClr val="D88325"/>
                </a:solidFill>
                <a:latin typeface="Noto Sans CJK KR"/>
              </a:defRPr>
            </a:pPr>
            <a:r>
              <a:rPr>
                <a:ea typeface="Noto Sans CJK KR"/>
              </a:rPr>
              <a:t>원본 함수를 실행한 예제: λbase=41.816406, G=0.999335, gopt_iter=14. 생산 성능 결과가 아닙니다.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D8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060704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000" b="1">
                <a:solidFill>
                  <a:srgbClr val="0D8F9F"/>
                </a:solidFill>
                <a:latin typeface="Noto Sans CJK KR"/>
              </a:defRPr>
            </a:pPr>
            <a:r>
              <a:rPr>
                <a:ea typeface="Noto Sans CJK KR"/>
              </a:rPr>
              <a:t>10 / SPAN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52120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2800" b="1">
                <a:solidFill>
                  <a:srgbClr val="12263D"/>
                </a:solidFill>
                <a:latin typeface="Noto Sans CJK KR"/>
              </a:defRPr>
            </a:pPr>
            <a:r>
              <a:rPr>
                <a:ea typeface="Noto Sans CJK KR"/>
              </a:rPr>
              <a:t>Span은 각 항의 contribution range다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243584"/>
            <a:ext cx="11018520" cy="3474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200" b="0">
                <a:solidFill>
                  <a:srgbClr val="63798D"/>
                </a:solidFill>
                <a:latin typeface="Noto Sans CJK KR"/>
              </a:defRPr>
            </a:pPr>
            <a:r>
              <a:rPr>
                <a:ea typeface="Noto Sans CJK KR"/>
              </a:rPr>
              <a:t>계수 β의 절댓값이나 전체 CPE fitting의 range와 구분해야 합니다.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6473952"/>
            <a:ext cx="11018520" cy="10972"/>
          </a:xfrm>
          <a:prstGeom prst="rect">
            <a:avLst/>
          </a:prstGeom>
          <a:solidFill>
            <a:srgbClr val="D8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7" y="6547104"/>
            <a:ext cx="1065276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850" b="0">
                <a:solidFill>
                  <a:srgbClr val="63798D"/>
                </a:solidFill>
                <a:latin typeface="Noto Sans CJK KR"/>
              </a:defRPr>
            </a:pPr>
            <a:r>
              <a:rPr>
                <a:ea typeface="Noto Sans CJK KR"/>
              </a:rPr>
              <a:t>MERGE/013.py · L456–506   |   source 00568f2 · 2026.10.13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37960"/>
            <a:ext cx="393192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5000"/>
              </a:lnSpc>
              <a:spcAft>
                <a:spcPts val="500"/>
              </a:spcAft>
              <a:defRPr sz="1000" b="1">
                <a:solidFill>
                  <a:srgbClr val="0D8F9F"/>
                </a:solidFill>
                <a:latin typeface="Noto Sans CJK KR"/>
              </a:defRPr>
            </a:pPr>
            <a:r>
              <a:rPr>
                <a:ea typeface="Noto Sans CJK KR"/>
              </a:rPr>
              <a:t>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01368"/>
            <a:ext cx="10972800" cy="877824"/>
          </a:xfrm>
          <a:prstGeom prst="roundRect">
            <a:avLst>
              <a:gd name="adj" fmla="val 12000"/>
            </a:avLst>
          </a:prstGeom>
          <a:solidFill>
            <a:srgbClr val="12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002536"/>
            <a:ext cx="10424160" cy="5486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2500" b="1">
                <a:solidFill>
                  <a:srgbClr val="FFFFFF"/>
                </a:solidFill>
                <a:latin typeface="Noto Sans CJK KR"/>
              </a:defRPr>
            </a:pPr>
            <a:r>
              <a:rPr>
                <a:ea typeface="Noto Sans CJK KR"/>
              </a:rPr>
              <a:t>cⱼ(i) = Eᵢⱼ βⱼ     /     spanⱼ = maxᵢ cⱼ(i) − minᵢ cⱼ(i)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3063240"/>
          <a:ext cx="1097280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926080"/>
                <a:gridCol w="3840480"/>
                <a:gridCol w="2103120"/>
              </a:tblGrid>
              <a:tr h="514350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900" b="1">
                          <a:solidFill>
                            <a:srgbClr val="FFFFFF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같은 β=2</a:t>
                      </a:r>
                    </a:p>
                  </a:txBody>
                  <a:tcPr marL="118872" marR="91440" marT="36576" marB="22860" anchor="ctr">
                    <a:solidFill>
                      <a:srgbClr val="1226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900" b="1">
                          <a:solidFill>
                            <a:srgbClr val="FFFFFF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기저 Eⱼ의 range</a:t>
                      </a:r>
                    </a:p>
                  </a:txBody>
                  <a:tcPr marL="118872" marR="91440" marT="36576" marB="22860" anchor="ctr">
                    <a:solidFill>
                      <a:srgbClr val="1226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900" b="1">
                          <a:solidFill>
                            <a:srgbClr val="FFFFFF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contribution range</a:t>
                      </a:r>
                    </a:p>
                  </a:txBody>
                  <a:tcPr marL="118872" marR="91440" marT="36576" marB="22860" anchor="ctr">
                    <a:solidFill>
                      <a:srgbClr val="1226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900" b="1">
                          <a:solidFill>
                            <a:srgbClr val="FFFFFF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span</a:t>
                      </a:r>
                    </a:p>
                  </a:txBody>
                  <a:tcPr marL="118872" marR="91440" marT="36576" marB="22860" anchor="ctr">
                    <a:solidFill>
                      <a:srgbClr val="12263D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9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평가 영역 A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9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−1 ~ +1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9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−2 ~ +2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9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4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9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평가 영역 B</a:t>
                      </a:r>
                    </a:p>
                  </a:txBody>
                  <a:tcPr marL="118872" marR="91440" marT="36576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9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0 ~ 0.1</a:t>
                      </a:r>
                    </a:p>
                  </a:txBody>
                  <a:tcPr marL="118872" marR="91440" marT="36576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9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0 ~ 0.2</a:t>
                      </a:r>
                    </a:p>
                  </a:txBody>
                  <a:tcPr marL="118872" marR="91440" marT="36576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9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0.2</a:t>
                      </a:r>
                    </a:p>
                  </a:txBody>
                  <a:tcPr marL="118872" marR="91440" marT="36576" marB="22860"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9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상수항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9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1 ~ 1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9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2 ~ 2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9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0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548640" y="5961888"/>
            <a:ext cx="10972800" cy="356616"/>
          </a:xfrm>
          <a:prstGeom prst="roundRect">
            <a:avLst>
              <a:gd name="adj" fmla="val 12000"/>
            </a:avLst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" y="5984748"/>
            <a:ext cx="10652760" cy="28346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150" b="0">
                <a:solidFill>
                  <a:srgbClr val="D88325"/>
                </a:solidFill>
                <a:latin typeface="Noto Sans CJK KR"/>
              </a:defRPr>
            </a:pPr>
            <a:r>
              <a:rPr>
                <a:ea typeface="Noto Sans CJK KR"/>
              </a:rPr>
              <a:t>동일한 계수라도 평가 영역·기저 스케일에 따라 span이 달라집니다. 출력 span의 단위는 입력 residual과 연결됩니다.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D8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060704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000" b="1">
                <a:solidFill>
                  <a:srgbClr val="0D8F9F"/>
                </a:solidFill>
                <a:latin typeface="Noto Sans CJK KR"/>
              </a:defRPr>
            </a:pPr>
            <a:r>
              <a:rPr>
                <a:ea typeface="Noto Sans CJK KR"/>
              </a:rPr>
              <a:t>10 / SPAN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52120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2800" b="1">
                <a:solidFill>
                  <a:srgbClr val="12263D"/>
                </a:solidFill>
                <a:latin typeface="Noto Sans CJK KR"/>
              </a:defRPr>
            </a:pPr>
            <a:r>
              <a:rPr>
                <a:ea typeface="Noto Sans CJK KR"/>
              </a:rPr>
              <a:t>위반 판정: preset ± tolerance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243584"/>
            <a:ext cx="11018520" cy="3474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200" b="0">
                <a:solidFill>
                  <a:srgbClr val="63798D"/>
                </a:solidFill>
                <a:latin typeface="Noto Sans CJK KR"/>
              </a:defRPr>
            </a:pPr>
            <a:r>
              <a:rPr>
                <a:ea typeface="Noto Sans CJK KR"/>
              </a:rPr>
              <a:t>기본 F2F preset은 모두 대칭 min/max이고 span은 0 이상입니다.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6473952"/>
            <a:ext cx="11018520" cy="10972"/>
          </a:xfrm>
          <a:prstGeom prst="rect">
            <a:avLst/>
          </a:prstGeom>
          <a:solidFill>
            <a:srgbClr val="D8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7" y="6547104"/>
            <a:ext cx="1065276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850" b="0">
                <a:solidFill>
                  <a:srgbClr val="63798D"/>
                </a:solidFill>
                <a:latin typeface="Noto Sans CJK KR"/>
              </a:defRPr>
            </a:pPr>
            <a:r>
              <a:rPr>
                <a:ea typeface="Noto Sans CJK KR"/>
              </a:rPr>
              <a:t>MERGE/013.py · L105–144, L464–478   |   source 00568f2 · 2026.10.13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37960"/>
            <a:ext cx="393192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5000"/>
              </a:lnSpc>
              <a:spcAft>
                <a:spcPts val="500"/>
              </a:spcAft>
              <a:defRPr sz="1000" b="1">
                <a:solidFill>
                  <a:srgbClr val="0D8F9F"/>
                </a:solidFill>
                <a:latin typeface="Noto Sans CJK KR"/>
              </a:defRPr>
            </a:pPr>
            <a:r>
              <a:rPr>
                <a:ea typeface="Noto Sans CJK KR"/>
              </a:rPr>
              <a:t>20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773936"/>
          <a:ext cx="10972800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3063240"/>
                <a:gridCol w="2834640"/>
                <a:gridCol w="4069080"/>
              </a:tblGrid>
              <a:tr h="489857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항</a:t>
                      </a:r>
                    </a:p>
                  </a:txBody>
                  <a:tcPr marL="118872" marR="91440" marT="36576" marB="22860" anchor="ctr">
                    <a:solidFill>
                      <a:srgbClr val="1226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F2F nominal 범위</a:t>
                      </a:r>
                    </a:p>
                  </a:txBody>
                  <a:tcPr marL="118872" marR="91440" marT="36576" marB="22860" anchor="ctr">
                    <a:solidFill>
                      <a:srgbClr val="1226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상한 + tolerance</a:t>
                      </a:r>
                    </a:p>
                  </a:txBody>
                  <a:tcPr marL="118872" marR="91440" marT="36576" marB="22860" anchor="ctr">
                    <a:solidFill>
                      <a:srgbClr val="1226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실제 판정</a:t>
                      </a:r>
                    </a:p>
                  </a:txBody>
                  <a:tcPr marL="118872" marR="91440" marT="36576" marB="22860" anchor="ctr">
                    <a:solidFill>
                      <a:srgbClr val="12263D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7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RK1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7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[-0.1, 0.1]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7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0.11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7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span=0인 상수항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7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RK3</a:t>
                      </a:r>
                    </a:p>
                  </a:txBody>
                  <a:tcPr marL="118872" marR="91440" marT="36576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7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[-2, 2]</a:t>
                      </a:r>
                    </a:p>
                  </a:txBody>
                  <a:tcPr marL="118872" marR="91440" marT="36576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7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2.01</a:t>
                      </a:r>
                    </a:p>
                  </a:txBody>
                  <a:tcPr marL="118872" marR="91440" marT="36576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7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max + 0.01 초과 시 위반</a:t>
                      </a:r>
                    </a:p>
                  </a:txBody>
                  <a:tcPr marL="118872" marR="91440" marT="36576" marB="22860" anchor="ctr">
                    <a:solidFill>
                      <a:srgbClr val="FFFFFF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7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RK7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7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[-0.1, 0.1]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7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0.11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7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max + 0.01 초과 시 위반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7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RK13</a:t>
                      </a:r>
                    </a:p>
                  </a:txBody>
                  <a:tcPr marL="118872" marR="91440" marT="36576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7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[-0.003, 0.003]</a:t>
                      </a:r>
                    </a:p>
                  </a:txBody>
                  <a:tcPr marL="118872" marR="91440" marT="36576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7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0.013</a:t>
                      </a:r>
                    </a:p>
                  </a:txBody>
                  <a:tcPr marL="118872" marR="91440" marT="36576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7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max + 0.01 초과 시 위반</a:t>
                      </a:r>
                    </a:p>
                  </a:txBody>
                  <a:tcPr marL="118872" marR="91440" marT="36576" marB="22860" anchor="ctr">
                    <a:solidFill>
                      <a:srgbClr val="FFFFFF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7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RK15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7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[-0.002, 0.002]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7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0.012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7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max + 0.01 초과 시 위반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</a:tr>
              <a:tr h="489858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7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RK22</a:t>
                      </a:r>
                    </a:p>
                  </a:txBody>
                  <a:tcPr marL="118872" marR="91440" marT="36576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7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[-7, 7]</a:t>
                      </a:r>
                    </a:p>
                  </a:txBody>
                  <a:tcPr marL="118872" marR="91440" marT="36576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7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7.01</a:t>
                      </a:r>
                    </a:p>
                  </a:txBody>
                  <a:tcPr marL="118872" marR="91440" marT="36576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7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max + 0.01 초과 시 위반</a:t>
                      </a:r>
                    </a:p>
                  </a:txBody>
                  <a:tcPr marL="118872" marR="91440" marT="36576" marB="2286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48640" y="5961888"/>
            <a:ext cx="10972800" cy="356616"/>
          </a:xfrm>
          <a:prstGeom prst="roundRect">
            <a:avLst>
              <a:gd name="adj" fmla="val 12000"/>
            </a:avLst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5984748"/>
            <a:ext cx="10652760" cy="28346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150" b="0">
                <a:solidFill>
                  <a:srgbClr val="D88325"/>
                </a:solidFill>
                <a:latin typeface="Noto Sans CJK KR"/>
              </a:defRPr>
            </a:pPr>
            <a:r>
              <a:rPr>
                <a:ea typeface="Noto Sans CJK KR"/>
              </a:rPr>
              <a:t>예: RK15의 nominal max 0.002에 절대 tolerance 0.01이 더해져 span ≤ 0.012는 통과합니다.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D8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060704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000" b="1">
                <a:solidFill>
                  <a:srgbClr val="0D8F9F"/>
                </a:solidFill>
                <a:latin typeface="Noto Sans CJK KR"/>
              </a:defRPr>
            </a:pPr>
            <a:r>
              <a:rPr>
                <a:ea typeface="Noto Sans CJK KR"/>
              </a:rPr>
              <a:t>10 / SPAN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52120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2800" b="1">
                <a:solidFill>
                  <a:srgbClr val="12263D"/>
                </a:solidFill>
                <a:latin typeface="Noto Sans CJK KR"/>
              </a:defRPr>
            </a:pPr>
            <a:r>
              <a:rPr>
                <a:ea typeface="Noto Sans CJK KR"/>
              </a:rPr>
              <a:t>Contribution span을 β의 box bound로 바꾼다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243584"/>
            <a:ext cx="11018520" cy="3474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200" b="0">
                <a:solidFill>
                  <a:srgbClr val="63798D"/>
                </a:solidFill>
                <a:latin typeface="Noto Sans CJK KR"/>
              </a:defRPr>
            </a:pPr>
            <a:r>
              <a:rPr>
                <a:ea typeface="Noto Sans CJK KR"/>
              </a:rPr>
              <a:t>기저 열의 range가 0보다 클 때만 계수 bound를 설정합니다.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6473952"/>
            <a:ext cx="11018520" cy="10972"/>
          </a:xfrm>
          <a:prstGeom prst="rect">
            <a:avLst/>
          </a:prstGeom>
          <a:solidFill>
            <a:srgbClr val="D8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7" y="6547104"/>
            <a:ext cx="1065276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850" b="0">
                <a:solidFill>
                  <a:srgbClr val="63798D"/>
                </a:solidFill>
                <a:latin typeface="Noto Sans CJK KR"/>
              </a:defRPr>
            </a:pPr>
            <a:r>
              <a:rPr>
                <a:ea typeface="Noto Sans CJK KR"/>
              </a:rPr>
              <a:t>MERGE/013.py · L481–506   |   source 00568f2 · 2026.10.13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37960"/>
            <a:ext cx="393192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5000"/>
              </a:lnSpc>
              <a:spcAft>
                <a:spcPts val="500"/>
              </a:spcAft>
              <a:defRPr sz="1000" b="1">
                <a:solidFill>
                  <a:srgbClr val="0D8F9F"/>
                </a:solidFill>
                <a:latin typeface="Noto Sans CJK KR"/>
              </a:defRPr>
            </a:pPr>
            <a:r>
              <a:rPr>
                <a:ea typeface="Noto Sans CJK KR"/>
              </a:rPr>
              <a:t>21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01368"/>
            <a:ext cx="10972800" cy="1216152"/>
          </a:xfrm>
          <a:prstGeom prst="roundRect">
            <a:avLst>
              <a:gd name="adj" fmla="val 12000"/>
            </a:avLst>
          </a:prstGeom>
          <a:solidFill>
            <a:srgbClr val="12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011680"/>
            <a:ext cx="10515600" cy="7680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2300" b="1">
                <a:solidFill>
                  <a:srgbClr val="FFFFFF"/>
                </a:solidFill>
                <a:latin typeface="Noto Sans CJK KR"/>
              </a:defRPr>
            </a:pPr>
            <a:r>
              <a:rPr>
                <a:ea typeface="Noto Sans CJK KR"/>
              </a:rPr>
              <a:t>ΔEⱼ = max Eⱼ − min Eⱼ    /    Sⱼ = max(|min_limit|, |max_limit|)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2300" b="1">
                <a:solidFill>
                  <a:srgbClr val="FFFFFF"/>
                </a:solidFill>
                <a:latin typeface="Noto Sans CJK KR"/>
              </a:defRPr>
            </a:pPr>
            <a:r>
              <a:rPr>
                <a:ea typeface="Noto Sans CJK KR"/>
              </a:rPr>
              <a:t>−Sⱼ / ΔEⱼ ≤ βⱼ ≤ +Sⱼ / ΔEⱼ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319272"/>
            <a:ext cx="5321808" cy="2240280"/>
          </a:xfrm>
          <a:prstGeom prst="roundRect">
            <a:avLst>
              <a:gd name="adj" fmla="val 12000"/>
            </a:avLst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3319272"/>
            <a:ext cx="50292" cy="2240280"/>
          </a:xfrm>
          <a:prstGeom prst="rect">
            <a:avLst/>
          </a:prstGeom>
          <a:solidFill>
            <a:srgbClr val="0D8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474720"/>
            <a:ext cx="4956048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900" b="1">
                <a:solidFill>
                  <a:srgbClr val="0D8F9F"/>
                </a:solidFill>
                <a:latin typeface="Noto Sans CJK KR"/>
              </a:defRPr>
            </a:pPr>
            <a:r>
              <a:rPr>
                <a:ea typeface="Noto Sans CJK KR"/>
              </a:rPr>
              <a:t>예시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995928"/>
            <a:ext cx="4956048" cy="14813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2000" b="0">
                <a:solidFill>
                  <a:srgbClr val="22384D"/>
                </a:solidFill>
                <a:latin typeface="Noto Sans CJK KR"/>
              </a:defRPr>
            </a:pPr>
            <a:r>
              <a:rPr>
                <a:ea typeface="Noto Sans CJK KR"/>
              </a:rPr>
              <a:t>ΔEⱼ = 0.2, nominal Sⱼ = 0.1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2000" b="0">
                <a:solidFill>
                  <a:srgbClr val="22384D"/>
                </a:solidFill>
                <a:latin typeface="Noto Sans CJK KR"/>
              </a:defRPr>
            </a:pPr>
          </a:p>
          <a:p>
            <a:pPr>
              <a:lnSpc>
                <a:spcPct val="105000"/>
              </a:lnSpc>
              <a:spcAft>
                <a:spcPts val="500"/>
              </a:spcAft>
              <a:defRPr sz="2000" b="0">
                <a:solidFill>
                  <a:srgbClr val="22384D"/>
                </a:solidFill>
                <a:latin typeface="Noto Sans CJK KR"/>
              </a:defRPr>
            </a:pPr>
            <a:r>
              <a:rPr>
                <a:ea typeface="Noto Sans CJK KR"/>
              </a:rPr>
              <a:t>βⱼ의 허용 범위 = [−0.5, +0.5]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3319272"/>
            <a:ext cx="5394960" cy="2240280"/>
          </a:xfrm>
          <a:prstGeom prst="roundRect">
            <a:avLst>
              <a:gd name="adj" fmla="val 12000"/>
            </a:avLst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26480" y="3319272"/>
            <a:ext cx="50292" cy="2240280"/>
          </a:xfrm>
          <a:prstGeom prst="rect">
            <a:avLst/>
          </a:prstGeom>
          <a:solidFill>
            <a:srgbClr val="D88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3474720"/>
            <a:ext cx="50292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900" b="1">
                <a:solidFill>
                  <a:srgbClr val="D88325"/>
                </a:solidFill>
                <a:latin typeface="Noto Sans CJK KR"/>
              </a:defRPr>
            </a:pPr>
            <a:r>
              <a:rPr>
                <a:ea typeface="Noto Sans CJK KR"/>
              </a:rPr>
              <a:t>적용 조건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995928"/>
            <a:ext cx="5029200" cy="14813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700" b="0">
                <a:solidFill>
                  <a:srgbClr val="22384D"/>
                </a:solidFill>
                <a:latin typeface="Noto Sans CJK KR"/>
              </a:defRPr>
            </a:pPr>
            <a:r>
              <a:rPr>
                <a:ea typeface="Noto Sans CJK KR"/>
              </a:rPr>
              <a:t>ΔEⱼ ≤ 0 또는 비유한값: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700" b="0">
                <a:solidFill>
                  <a:srgbClr val="22384D"/>
                </a:solidFill>
                <a:latin typeface="Noto Sans CJK KR"/>
              </a:defRPr>
            </a:pPr>
            <a:r>
              <a:rPr>
                <a:ea typeface="Noto Sans CJK KR"/>
              </a:rPr>
              <a:t>bound를 설정하지 않음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700" b="0">
                <a:solidFill>
                  <a:srgbClr val="22384D"/>
                </a:solidFill>
                <a:latin typeface="Noto Sans CJK KR"/>
              </a:defRPr>
            </a:pPr>
          </a:p>
          <a:p>
            <a:pPr>
              <a:lnSpc>
                <a:spcPct val="105000"/>
              </a:lnSpc>
              <a:spcAft>
                <a:spcPts val="500"/>
              </a:spcAft>
              <a:defRPr sz="1700" b="0">
                <a:solidFill>
                  <a:srgbClr val="22384D"/>
                </a:solidFill>
                <a:latin typeface="Noto Sans CJK KR"/>
              </a:defRPr>
            </a:pPr>
            <a:r>
              <a:rPr>
                <a:ea typeface="Noto Sans CJK KR"/>
              </a:rPr>
              <a:t>bound 계산에는 tolerance를 더하지 않음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961888"/>
            <a:ext cx="10972800" cy="356616"/>
          </a:xfrm>
          <a:prstGeom prst="roundRect">
            <a:avLst>
              <a:gd name="adj" fmla="val 12000"/>
            </a:avLst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4944" y="5984748"/>
            <a:ext cx="10652760" cy="28346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150" b="0">
                <a:solidFill>
                  <a:srgbClr val="D88325"/>
                </a:solidFill>
                <a:latin typeface="Noto Sans CJK KR"/>
              </a:defRPr>
            </a:pPr>
            <a:r>
              <a:rPr>
                <a:ea typeface="Noto Sans CJK KR"/>
              </a:rPr>
              <a:t>현재 대칭 preset에서는 range cap으로 동작합니다. Signed coefficient min/max를 직접 적용하는 방식은 아닙니다.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D8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060704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000" b="1">
                <a:solidFill>
                  <a:srgbClr val="0D8F9F"/>
                </a:solidFill>
                <a:latin typeface="Noto Sans CJK KR"/>
              </a:defRPr>
            </a:pPr>
            <a:r>
              <a:rPr>
                <a:ea typeface="Noto Sans CJK KR"/>
              </a:rPr>
              <a:t>11 / BOX CONSTRAINED CD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52120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2800" b="1">
                <a:solidFill>
                  <a:srgbClr val="12263D"/>
                </a:solidFill>
                <a:latin typeface="Noto Sans CJK KR"/>
              </a:defRPr>
            </a:pPr>
            <a:r>
              <a:rPr>
                <a:ea typeface="Noto Sans CJK KR"/>
              </a:rPr>
              <a:t>계수를 clip하고 coordinate descent로 다시 fit한다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243584"/>
            <a:ext cx="11018520" cy="3474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200" b="0">
                <a:solidFill>
                  <a:srgbClr val="63798D"/>
                </a:solidFill>
                <a:latin typeface="Noto Sans CJK KR"/>
              </a:defRPr>
            </a:pPr>
            <a:r>
              <a:rPr>
                <a:ea typeface="Noto Sans CJK KR"/>
              </a:rPr>
              <a:t>L1=0인 bounded Ridge 최적화이며 계수를 한 번 잘라내는 것에서 끝나지 않습니다.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6473952"/>
            <a:ext cx="11018520" cy="10972"/>
          </a:xfrm>
          <a:prstGeom prst="rect">
            <a:avLst/>
          </a:prstGeom>
          <a:solidFill>
            <a:srgbClr val="D8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7" y="6547104"/>
            <a:ext cx="1065276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850" b="0">
                <a:solidFill>
                  <a:srgbClr val="63798D"/>
                </a:solidFill>
                <a:latin typeface="Noto Sans CJK KR"/>
              </a:defRPr>
            </a:pPr>
            <a:r>
              <a:rPr>
                <a:ea typeface="Noto Sans CJK KR"/>
              </a:rPr>
              <a:t>MERGE/013.py · L509–570, L696–709   |   source 00568f2 · 2026.10.13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37960"/>
            <a:ext cx="393192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5000"/>
              </a:lnSpc>
              <a:spcAft>
                <a:spcPts val="500"/>
              </a:spcAft>
              <a:defRPr sz="1000" b="1">
                <a:solidFill>
                  <a:srgbClr val="0D8F9F"/>
                </a:solidFill>
                <a:latin typeface="Noto Sans CJK KR"/>
              </a:defRPr>
            </a:pPr>
            <a:r>
              <a:rPr>
                <a:ea typeface="Noto Sans CJK KR"/>
              </a:rPr>
              <a:t>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10512"/>
            <a:ext cx="5486400" cy="3941063"/>
          </a:xfrm>
          <a:prstGeom prst="roundRect">
            <a:avLst>
              <a:gd name="adj" fmla="val 12000"/>
            </a:avLst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810512"/>
            <a:ext cx="50292" cy="3941063"/>
          </a:xfrm>
          <a:prstGeom prst="rect">
            <a:avLst/>
          </a:prstGeom>
          <a:solidFill>
            <a:srgbClr val="0D8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965960"/>
            <a:ext cx="512064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900" b="1">
                <a:solidFill>
                  <a:srgbClr val="0D8F9F"/>
                </a:solidFill>
                <a:latin typeface="Noto Sans CJK KR"/>
              </a:defRPr>
            </a:pPr>
            <a:r>
              <a:rPr>
                <a:ea typeface="Noto Sans CJK KR"/>
              </a:rPr>
              <a:t>각 계수 j의 업데이트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487168"/>
            <a:ext cx="5120640" cy="3182111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800" b="0">
                <a:solidFill>
                  <a:srgbClr val="22384D"/>
                </a:solidFill>
                <a:latin typeface="Noto Sans CJK KR"/>
              </a:defRPr>
            </a:pPr>
            <a:r>
              <a:rPr>
                <a:ea typeface="Noto Sans CJK KR"/>
              </a:rPr>
              <a:t>① r ← r + Xⱼ βⱼ(old)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800" b="0">
                <a:solidFill>
                  <a:srgbClr val="22384D"/>
                </a:solidFill>
                <a:latin typeface="Noto Sans CJK KR"/>
              </a:defRPr>
            </a:pPr>
          </a:p>
          <a:p>
            <a:pPr>
              <a:lnSpc>
                <a:spcPct val="105000"/>
              </a:lnSpc>
              <a:spcAft>
                <a:spcPts val="500"/>
              </a:spcAft>
              <a:defRPr sz="1800" b="0">
                <a:solidFill>
                  <a:srgbClr val="22384D"/>
                </a:solidFill>
                <a:latin typeface="Noto Sans CJK KR"/>
              </a:defRPr>
            </a:pPr>
            <a:r>
              <a:rPr>
                <a:ea typeface="Noto Sans CJK KR"/>
              </a:rPr>
              <a:t>② ρⱼ ← Xⱼᵀ r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800" b="0">
                <a:solidFill>
                  <a:srgbClr val="22384D"/>
                </a:solidFill>
                <a:latin typeface="Noto Sans CJK KR"/>
              </a:defRPr>
            </a:pPr>
          </a:p>
          <a:p>
            <a:pPr>
              <a:lnSpc>
                <a:spcPct val="105000"/>
              </a:lnSpc>
              <a:spcAft>
                <a:spcPts val="500"/>
              </a:spcAft>
              <a:defRPr sz="1800" b="0">
                <a:solidFill>
                  <a:srgbClr val="22384D"/>
                </a:solidFill>
                <a:latin typeface="Noto Sans CJK KR"/>
              </a:defRPr>
            </a:pPr>
            <a:r>
              <a:rPr>
                <a:ea typeface="Noto Sans CJK KR"/>
              </a:rPr>
              <a:t>③ βⱼ(new) ← clip(ρⱼ / (‖Xⱼ‖² + λⱼ), lowerⱼ, upperⱼ)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800" b="0">
                <a:solidFill>
                  <a:srgbClr val="22384D"/>
                </a:solidFill>
                <a:latin typeface="Noto Sans CJK KR"/>
              </a:defRPr>
            </a:pPr>
          </a:p>
          <a:p>
            <a:pPr>
              <a:lnSpc>
                <a:spcPct val="105000"/>
              </a:lnSpc>
              <a:spcAft>
                <a:spcPts val="500"/>
              </a:spcAft>
              <a:defRPr sz="1800" b="0">
                <a:solidFill>
                  <a:srgbClr val="22384D"/>
                </a:solidFill>
                <a:latin typeface="Noto Sans CJK KR"/>
              </a:defRPr>
            </a:pPr>
            <a:r>
              <a:rPr>
                <a:ea typeface="Noto Sans CJK KR"/>
              </a:rPr>
              <a:t>④ r ← r − Xⱼ βⱼ(new)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810512"/>
            <a:ext cx="5212080" cy="3941063"/>
          </a:xfrm>
          <a:prstGeom prst="roundRect">
            <a:avLst>
              <a:gd name="adj" fmla="val 12000"/>
            </a:avLst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810512"/>
            <a:ext cx="50292" cy="3941063"/>
          </a:xfrm>
          <a:prstGeom prst="rect">
            <a:avLst/>
          </a:prstGeom>
          <a:solidFill>
            <a:srgbClr val="D88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965960"/>
            <a:ext cx="484632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900" b="1">
                <a:solidFill>
                  <a:srgbClr val="D88325"/>
                </a:solidFill>
                <a:latin typeface="Noto Sans CJK KR"/>
              </a:defRPr>
            </a:pPr>
            <a:r>
              <a:rPr>
                <a:ea typeface="Noto Sans CJK KR"/>
              </a:rPr>
              <a:t>수렴·계산 규칙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487168"/>
            <a:ext cx="4846320" cy="3182111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700" b="0">
                <a:solidFill>
                  <a:srgbClr val="22384D"/>
                </a:solidFill>
                <a:latin typeface="Noto Sans CJK KR"/>
              </a:defRPr>
            </a:pPr>
            <a:r>
              <a:rPr>
                <a:ea typeface="Noto Sans CJK KR"/>
              </a:rPr>
              <a:t>최초 β를 bound 안으로 clip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700" b="0">
                <a:solidFill>
                  <a:srgbClr val="22384D"/>
                </a:solidFill>
                <a:latin typeface="Noto Sans CJK KR"/>
              </a:defRPr>
            </a:pPr>
          </a:p>
          <a:p>
            <a:pPr>
              <a:lnSpc>
                <a:spcPct val="105000"/>
              </a:lnSpc>
              <a:spcAft>
                <a:spcPts val="500"/>
              </a:spcAft>
              <a:defRPr sz="1700" b="0">
                <a:solidFill>
                  <a:srgbClr val="22384D"/>
                </a:solidFill>
                <a:latin typeface="Noto Sans CJK KR"/>
              </a:defRPr>
            </a:pPr>
            <a:r>
              <a:rPr>
                <a:ea typeface="Noto Sans CJK KR"/>
              </a:rPr>
              <a:t>한 sweep에서 max |Δβ| &lt; 10⁻⁶이면 종료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700" b="0">
                <a:solidFill>
                  <a:srgbClr val="22384D"/>
                </a:solidFill>
                <a:latin typeface="Noto Sans CJK KR"/>
              </a:defRPr>
            </a:pPr>
          </a:p>
          <a:p>
            <a:pPr>
              <a:lnSpc>
                <a:spcPct val="105000"/>
              </a:lnSpc>
              <a:spcAft>
                <a:spcPts val="500"/>
              </a:spcAft>
              <a:defRPr sz="1700" b="0">
                <a:solidFill>
                  <a:srgbClr val="22384D"/>
                </a:solidFill>
                <a:latin typeface="Noto Sans CJK KR"/>
              </a:defRPr>
            </a:pPr>
            <a:r>
              <a:rPr>
                <a:ea typeface="Noto Sans CJK KR"/>
              </a:rPr>
              <a:t>최대 5000 sweep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700" b="0">
                <a:solidFill>
                  <a:srgbClr val="22384D"/>
                </a:solidFill>
                <a:latin typeface="Noto Sans CJK KR"/>
              </a:defRPr>
            </a:pPr>
          </a:p>
          <a:p>
            <a:pPr>
              <a:lnSpc>
                <a:spcPct val="105000"/>
              </a:lnSpc>
              <a:spcAft>
                <a:spcPts val="500"/>
              </a:spcAft>
              <a:defRPr sz="1700" b="0">
                <a:solidFill>
                  <a:srgbClr val="22384D"/>
                </a:solidFill>
                <a:latin typeface="Noto Sans CJK KR"/>
              </a:defRPr>
            </a:pPr>
            <a:r>
              <a:rPr>
                <a:ea typeface="Noto Sans CJK KR"/>
              </a:rPr>
              <a:t>분모가 0 이하 / 비유한값이면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700" b="0">
                <a:solidFill>
                  <a:srgbClr val="22384D"/>
                </a:solidFill>
                <a:latin typeface="Noto Sans CJK KR"/>
              </a:defRPr>
            </a:pPr>
            <a:r>
              <a:rPr>
                <a:ea typeface="Noto Sans CJK KR"/>
              </a:rPr>
              <a:t>해당 계수 업데이트 skip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961888"/>
            <a:ext cx="10972800" cy="356616"/>
          </a:xfrm>
          <a:prstGeom prst="roundRect">
            <a:avLst>
              <a:gd name="adj" fmla="val 12000"/>
            </a:avLst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4944" y="5984748"/>
            <a:ext cx="10652760" cy="28346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150" b="0">
                <a:solidFill>
                  <a:srgbClr val="D88325"/>
                </a:solidFill>
                <a:latin typeface="Noto Sans CJK KR"/>
              </a:defRPr>
            </a:pPr>
            <a:r>
              <a:rPr>
                <a:ea typeface="Noto Sans CJK KR"/>
              </a:rPr>
              <a:t>함수가 반환하는 last_delta는 현재 상위 solver에서 버립니다. 반복 수만으로 수렴을 판정할 수 없습니다.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D8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060704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000" b="1">
                <a:solidFill>
                  <a:srgbClr val="0D8F9F"/>
                </a:solidFill>
                <a:latin typeface="Noto Sans CJK KR"/>
              </a:defRPr>
            </a:pPr>
            <a:r>
              <a:rPr>
                <a:ea typeface="Noto Sans CJK KR"/>
              </a:rPr>
              <a:t>12 / INTERACTION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52120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2800" b="1">
                <a:solidFill>
                  <a:srgbClr val="12263D"/>
                </a:solidFill>
                <a:latin typeface="Noto Sans CJK KR"/>
              </a:defRPr>
            </a:pPr>
            <a:r>
              <a:rPr>
                <a:ea typeface="Noto Sans CJK KR"/>
              </a:rPr>
              <a:t>Ridge와 span 분기는 이렇게 연결된다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243584"/>
            <a:ext cx="11018520" cy="3474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200" b="0">
                <a:solidFill>
                  <a:srgbClr val="63798D"/>
                </a:solidFill>
                <a:latin typeface="Noto Sans CJK KR"/>
              </a:defRPr>
            </a:pPr>
            <a:r>
              <a:rPr>
                <a:ea typeface="Noto Sans CJK KR"/>
              </a:rPr>
              <a:t>method 이름은 실행 경로를 나타내며 spec 통과를 보증하는 결과 코드가 아닙니다.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6473952"/>
            <a:ext cx="11018520" cy="10972"/>
          </a:xfrm>
          <a:prstGeom prst="rect">
            <a:avLst/>
          </a:prstGeom>
          <a:solidFill>
            <a:srgbClr val="D8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7" y="6547104"/>
            <a:ext cx="1065276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850" b="0">
                <a:solidFill>
                  <a:srgbClr val="63798D"/>
                </a:solidFill>
                <a:latin typeface="Noto Sans CJK KR"/>
              </a:defRPr>
            </a:pPr>
            <a:r>
              <a:rPr>
                <a:ea typeface="Noto Sans CJK KR"/>
              </a:rPr>
              <a:t>MERGE/013.py · L630–720   |   source 00568f2 · 2026.10.13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37960"/>
            <a:ext cx="393192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5000"/>
              </a:lnSpc>
              <a:spcAft>
                <a:spcPts val="500"/>
              </a:spcAft>
              <a:defRPr sz="1000" b="1">
                <a:solidFill>
                  <a:srgbClr val="0D8F9F"/>
                </a:solidFill>
                <a:latin typeface="Noto Sans CJK KR"/>
              </a:defRPr>
            </a:pPr>
            <a:r>
              <a:rPr>
                <a:ea typeface="Noto Sans CJK KR"/>
              </a:rPr>
              <a:t>23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773936"/>
          <a:ext cx="10972800" cy="40050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94760"/>
                <a:gridCol w="4251960"/>
                <a:gridCol w="2926080"/>
              </a:tblGrid>
              <a:tr h="667512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400" b="1">
                          <a:solidFill>
                            <a:srgbClr val="FFFFFF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상황</a:t>
                      </a:r>
                    </a:p>
                  </a:txBody>
                  <a:tcPr marL="118872" marR="91440" marT="36576" marB="22860" anchor="ctr">
                    <a:solidFill>
                      <a:srgbClr val="1226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400" b="1">
                          <a:solidFill>
                            <a:srgbClr val="FFFFFF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현재 실행 경로</a:t>
                      </a:r>
                    </a:p>
                  </a:txBody>
                  <a:tcPr marL="118872" marR="91440" marT="36576" marB="22860" anchor="ctr">
                    <a:solidFill>
                      <a:srgbClr val="1226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400" b="1">
                          <a:solidFill>
                            <a:srgbClr val="FFFFFF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method</a:t>
                      </a:r>
                    </a:p>
                  </a:txBody>
                  <a:tcPr marL="118872" marR="91440" marT="36576" marB="22860" anchor="ctr">
                    <a:solidFill>
                      <a:srgbClr val="12263D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초기 G가 허용 범위 + span 위반 없음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λ=0 fit 그대로 반환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ols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G 때문에 λ 탐색 수행</a:t>
                      </a:r>
                    </a:p>
                  </a:txBody>
                  <a:tcPr marL="118872" marR="91440" marT="36576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최종 λ로 fit 다시 계산</a:t>
                      </a:r>
                    </a:p>
                  </a:txBody>
                  <a:tcPr marL="118872" marR="91440" marT="36576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ridge_gopt</a:t>
                      </a:r>
                    </a:p>
                  </a:txBody>
                  <a:tcPr marL="118872" marR="91440" marT="36576" marB="22860" anchor="ctr">
                    <a:solidFill>
                      <a:srgbClr val="FFFFFF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Ridge=True + box=True + span 위반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현재 λ를 고정한 채 bounded CD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ridge_gopt_box_cd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RIDGE_REGRESSION=False</a:t>
                      </a:r>
                    </a:p>
                  </a:txBody>
                  <a:tcPr marL="118872" marR="91440" marT="36576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G는 계산하지만 λ 탐색·span CD는 실행하지 않음</a:t>
                      </a:r>
                    </a:p>
                  </a:txBody>
                  <a:tcPr marL="118872" marR="91440" marT="36576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ols</a:t>
                      </a:r>
                    </a:p>
                  </a:txBody>
                  <a:tcPr marL="118872" marR="91440" marT="36576" marB="22860" anchor="ctr">
                    <a:solidFill>
                      <a:srgbClr val="FFFFFF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OLS에서 G 통과, span만 위반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λ=0인 상태로 box CD 실행 가능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ridge_gopt_box_cd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48640" y="5961888"/>
            <a:ext cx="10972800" cy="356616"/>
          </a:xfrm>
          <a:prstGeom prst="roundRect">
            <a:avLst>
              <a:gd name="adj" fmla="val 12000"/>
            </a:avLst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5984748"/>
            <a:ext cx="10652760" cy="28346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150" b="0">
                <a:solidFill>
                  <a:srgbClr val="D88325"/>
                </a:solidFill>
                <a:latin typeface="Noto Sans CJK KR"/>
              </a:defRPr>
            </a:pPr>
            <a:r>
              <a:rPr>
                <a:ea typeface="Noto Sans CJK KR"/>
              </a:rPr>
              <a:t>Span 적용 뒤 G를 재계산해도 β가 식에 없어서 λ·geometry가 같으면 동일한 G가 나옵니다.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D8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060704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000" b="1">
                <a:solidFill>
                  <a:srgbClr val="0D8F9F"/>
                </a:solidFill>
                <a:latin typeface="Noto Sans CJK KR"/>
              </a:defRPr>
            </a:pPr>
            <a:r>
              <a:rPr>
                <a:ea typeface="Noto Sans CJK KR"/>
              </a:rPr>
              <a:t>12 / LIMIT OF THE CURRENT FORMULATION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52120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2800" b="1">
                <a:solidFill>
                  <a:srgbClr val="12263D"/>
                </a:solidFill>
                <a:latin typeface="Noto Sans CJK KR"/>
              </a:defRPr>
            </a:pPr>
            <a:r>
              <a:rPr>
                <a:ea typeface="Noto Sans CJK KR"/>
              </a:rPr>
              <a:t>RK1/RK2 translation은 현재 두 제어에서 모두 제외된다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243584"/>
            <a:ext cx="11018520" cy="3474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200" b="0">
                <a:solidFill>
                  <a:srgbClr val="63798D"/>
                </a:solidFill>
                <a:latin typeface="Noto Sans CJK KR"/>
              </a:defRPr>
            </a:pPr>
            <a:r>
              <a:rPr>
                <a:ea typeface="Noto Sans CJK KR"/>
              </a:rPr>
              <a:t>Ridge valve와 contribution-range span을 함께 보면 확인할 수 있는 동작입니다.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6473952"/>
            <a:ext cx="11018520" cy="10972"/>
          </a:xfrm>
          <a:prstGeom prst="rect">
            <a:avLst/>
          </a:prstGeom>
          <a:solidFill>
            <a:srgbClr val="D8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7" y="6547104"/>
            <a:ext cx="1065276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850" b="0">
                <a:solidFill>
                  <a:srgbClr val="63798D"/>
                </a:solidFill>
                <a:latin typeface="Noto Sans CJK KR"/>
              </a:defRPr>
            </a:pPr>
            <a:r>
              <a:rPr>
                <a:ea typeface="Noto Sans CJK KR"/>
              </a:rPr>
              <a:t>MERGE/013.py · L223–239, L456–506   |   source 00568f2 · 2026.10.13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37960"/>
            <a:ext cx="393192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5000"/>
              </a:lnSpc>
              <a:spcAft>
                <a:spcPts val="500"/>
              </a:spcAft>
              <a:defRPr sz="1000" b="1">
                <a:solidFill>
                  <a:srgbClr val="0D8F9F"/>
                </a:solidFill>
                <a:latin typeface="Noto Sans CJK KR"/>
              </a:defRPr>
            </a:pPr>
            <a:r>
              <a:rPr>
                <a:ea typeface="Noto Sans CJK KR"/>
              </a:rPr>
              <a:t>24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19656"/>
            <a:ext cx="5321808" cy="3621024"/>
          </a:xfrm>
          <a:prstGeom prst="roundRect">
            <a:avLst>
              <a:gd name="adj" fmla="val 12000"/>
            </a:avLst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819656"/>
            <a:ext cx="50292" cy="3621024"/>
          </a:xfrm>
          <a:prstGeom prst="rect">
            <a:avLst/>
          </a:prstGeom>
          <a:solidFill>
            <a:srgbClr val="0D8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975104"/>
            <a:ext cx="4956048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900" b="1">
                <a:solidFill>
                  <a:srgbClr val="0D8F9F"/>
                </a:solidFill>
                <a:latin typeface="Noto Sans CJK KR"/>
              </a:defRPr>
            </a:pPr>
            <a:r>
              <a:rPr>
                <a:ea typeface="Noto Sans CJK KR"/>
              </a:rPr>
              <a:t>Ridge 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496312"/>
            <a:ext cx="4956048" cy="28620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800" b="0">
                <a:solidFill>
                  <a:srgbClr val="22384D"/>
                </a:solidFill>
                <a:latin typeface="Noto Sans CJK KR"/>
              </a:defRPr>
            </a:pPr>
            <a:r>
              <a:rPr>
                <a:ea typeface="Noto Sans CJK KR"/>
              </a:rPr>
              <a:t>RK1/RK2의 valve = 0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800" b="0">
                <a:solidFill>
                  <a:srgbClr val="22384D"/>
                </a:solidFill>
                <a:latin typeface="Noto Sans CJK KR"/>
              </a:defRPr>
            </a:pPr>
          </a:p>
          <a:p>
            <a:pPr>
              <a:lnSpc>
                <a:spcPct val="105000"/>
              </a:lnSpc>
              <a:spcAft>
                <a:spcPts val="500"/>
              </a:spcAft>
              <a:defRPr sz="1800" b="0">
                <a:solidFill>
                  <a:srgbClr val="22384D"/>
                </a:solidFill>
                <a:latin typeface="Noto Sans CJK KR"/>
              </a:defRPr>
            </a:pPr>
            <a:r>
              <a:rPr>
                <a:ea typeface="Noto Sans CJK KR"/>
              </a:rPr>
              <a:t>λbase를 크게 해도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800" b="0">
                <a:solidFill>
                  <a:srgbClr val="22384D"/>
                </a:solidFill>
                <a:latin typeface="Noto Sans CJK KR"/>
              </a:defRPr>
            </a:pPr>
            <a:r>
              <a:rPr>
                <a:ea typeface="Noto Sans CJK KR"/>
              </a:rPr>
              <a:t>translation penalty는 0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800" b="0">
                <a:solidFill>
                  <a:srgbClr val="22384D"/>
                </a:solidFill>
                <a:latin typeface="Noto Sans CJK KR"/>
              </a:defRPr>
            </a:pPr>
          </a:p>
          <a:p>
            <a:pPr>
              <a:lnSpc>
                <a:spcPct val="105000"/>
              </a:lnSpc>
              <a:spcAft>
                <a:spcPts val="500"/>
              </a:spcAft>
              <a:defRPr sz="1800" b="0">
                <a:solidFill>
                  <a:srgbClr val="22384D"/>
                </a:solidFill>
                <a:latin typeface="Noto Sans CJK KR"/>
              </a:defRPr>
            </a:pPr>
            <a:r>
              <a:rPr>
                <a:ea typeface="Noto Sans CJK KR"/>
              </a:rPr>
              <a:t>평균 offset을 직접 누르는 항이 없음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819656"/>
            <a:ext cx="5394960" cy="3621024"/>
          </a:xfrm>
          <a:prstGeom prst="roundRect">
            <a:avLst>
              <a:gd name="adj" fmla="val 12000"/>
            </a:avLst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26480" y="1819656"/>
            <a:ext cx="50292" cy="3621024"/>
          </a:xfrm>
          <a:prstGeom prst="rect">
            <a:avLst/>
          </a:prstGeom>
          <a:solidFill>
            <a:srgbClr val="D88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1975104"/>
            <a:ext cx="50292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900" b="1">
                <a:solidFill>
                  <a:srgbClr val="D88325"/>
                </a:solidFill>
                <a:latin typeface="Noto Sans CJK KR"/>
              </a:defRPr>
            </a:pPr>
            <a:r>
              <a:rPr>
                <a:ea typeface="Noto Sans CJK KR"/>
              </a:rPr>
              <a:t>Span 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496312"/>
            <a:ext cx="5029200" cy="28620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800" b="0">
                <a:solidFill>
                  <a:srgbClr val="22384D"/>
                </a:solidFill>
                <a:latin typeface="Noto Sans CJK KR"/>
              </a:defRPr>
            </a:pPr>
            <a:r>
              <a:rPr>
                <a:ea typeface="Noto Sans CJK KR"/>
              </a:rPr>
              <a:t>상수 기저 Eⱼ = 1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800" b="0">
                <a:solidFill>
                  <a:srgbClr val="22384D"/>
                </a:solidFill>
                <a:latin typeface="Noto Sans CJK KR"/>
              </a:defRPr>
            </a:pPr>
          </a:p>
          <a:p>
            <a:pPr>
              <a:lnSpc>
                <a:spcPct val="105000"/>
              </a:lnSpc>
              <a:spcAft>
                <a:spcPts val="500"/>
              </a:spcAft>
              <a:defRPr sz="1800" b="0">
                <a:solidFill>
                  <a:srgbClr val="22384D"/>
                </a:solidFill>
                <a:latin typeface="Noto Sans CJK KR"/>
              </a:defRPr>
            </a:pPr>
            <a:r>
              <a:rPr>
                <a:ea typeface="Noto Sans CJK KR"/>
              </a:rPr>
              <a:t>contribution range = 0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800" b="0">
                <a:solidFill>
                  <a:srgbClr val="22384D"/>
                </a:solidFill>
                <a:latin typeface="Noto Sans CJK KR"/>
              </a:defRPr>
            </a:pPr>
            <a:r>
              <a:rPr>
                <a:ea typeface="Noto Sans CJK KR"/>
              </a:rPr>
              <a:t>ΔEⱼ = 0 → β bound 없음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800" b="0">
                <a:solidFill>
                  <a:srgbClr val="22384D"/>
                </a:solidFill>
                <a:latin typeface="Noto Sans CJK KR"/>
              </a:defRPr>
            </a:pPr>
          </a:p>
          <a:p>
            <a:pPr>
              <a:lnSpc>
                <a:spcPct val="105000"/>
              </a:lnSpc>
              <a:spcAft>
                <a:spcPts val="500"/>
              </a:spcAft>
              <a:defRPr sz="1800" b="0">
                <a:solidFill>
                  <a:srgbClr val="22384D"/>
                </a:solidFill>
                <a:latin typeface="Noto Sans CJK KR"/>
              </a:defRPr>
            </a:pPr>
            <a:r>
              <a:rPr>
                <a:ea typeface="Noto Sans CJK KR"/>
              </a:rPr>
              <a:t>preset의 ±0.1이 translation β를 제한하지 않음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961888"/>
            <a:ext cx="10972800" cy="356616"/>
          </a:xfrm>
          <a:prstGeom prst="roundRect">
            <a:avLst>
              <a:gd name="adj" fmla="val 12000"/>
            </a:avLst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4944" y="5984748"/>
            <a:ext cx="10652760" cy="28346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150" b="0">
                <a:solidFill>
                  <a:srgbClr val="D88325"/>
                </a:solidFill>
                <a:latin typeface="Noto Sans CJK KR"/>
              </a:defRPr>
            </a:pPr>
            <a:r>
              <a:rPr>
                <a:ea typeface="Noto Sans CJK KR"/>
              </a:rPr>
              <a:t>합성 확인: n=8, β_RK1=0.7, span_RK1=0.0, λmax=0, G=0.353553, method=ols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D8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060704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000" b="1">
                <a:solidFill>
                  <a:srgbClr val="0D8F9F"/>
                </a:solidFill>
                <a:latin typeface="Noto Sans CJK KR"/>
              </a:defRPr>
            </a:pPr>
            <a:r>
              <a:rPr>
                <a:ea typeface="Noto Sans CJK KR"/>
              </a:rPr>
              <a:t>13 / EXECUTED SYNTHETIC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52120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2800" b="1">
                <a:solidFill>
                  <a:srgbClr val="12263D"/>
                </a:solidFill>
                <a:latin typeface="Noto Sans CJK KR"/>
              </a:defRPr>
            </a:pPr>
            <a:r>
              <a:rPr>
                <a:ea typeface="Noto Sans CJK KR"/>
              </a:rPr>
              <a:t>G-opt와 span을 제어하면 train RMS가 커질 수 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243584"/>
            <a:ext cx="11018520" cy="3474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200" b="0">
                <a:solidFill>
                  <a:srgbClr val="63798D"/>
                </a:solidFill>
                <a:latin typeface="Noto Sans CJK KR"/>
              </a:defRPr>
            </a:pPr>
            <a:r>
              <a:rPr>
                <a:ea typeface="Noto Sans CJK KR"/>
              </a:rPr>
              <a:t>원본 함수를 그대로 실행한 X 방향 예제이며 residual 수치는 임의 단위입니다.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6473952"/>
            <a:ext cx="11018520" cy="10972"/>
          </a:xfrm>
          <a:prstGeom prst="rect">
            <a:avLst/>
          </a:prstGeom>
          <a:solidFill>
            <a:srgbClr val="D8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7" y="6547104"/>
            <a:ext cx="1065276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850" b="0">
                <a:solidFill>
                  <a:srgbClr val="63798D"/>
                </a:solidFill>
                <a:latin typeface="Noto Sans CJK KR"/>
              </a:defRPr>
            </a:pPr>
            <a:r>
              <a:rPr>
                <a:ea typeface="Noto Sans CJK KR"/>
              </a:rPr>
              <a:t>MERGE/013.py · L586–722 / 합성 seed=16   |   source 00568f2 · 2026.10.13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37960"/>
            <a:ext cx="393192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5000"/>
              </a:lnSpc>
              <a:spcAft>
                <a:spcPts val="500"/>
              </a:spcAft>
              <a:defRPr sz="1000" b="1">
                <a:solidFill>
                  <a:srgbClr val="0D8F9F"/>
                </a:solidFill>
                <a:latin typeface="Noto Sans CJK KR"/>
              </a:defRPr>
            </a:pPr>
            <a:r>
              <a:rPr>
                <a:ea typeface="Noto Sans CJK KR"/>
              </a:rPr>
              <a:t>25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856231"/>
          <a:ext cx="10972800" cy="1993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1828800"/>
                <a:gridCol w="1920240"/>
                <a:gridCol w="2103120"/>
                <a:gridCol w="1463040"/>
              </a:tblGrid>
              <a:tr h="498348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실행 조건</a:t>
                      </a:r>
                    </a:p>
                  </a:txBody>
                  <a:tcPr marL="118872" marR="91440" marT="36576" marB="22860" anchor="ctr">
                    <a:solidFill>
                      <a:srgbClr val="1226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G-opt</a:t>
                      </a:r>
                    </a:p>
                  </a:txBody>
                  <a:tcPr marL="118872" marR="91440" marT="36576" marB="22860" anchor="ctr">
                    <a:solidFill>
                      <a:srgbClr val="1226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λmax</a:t>
                      </a:r>
                    </a:p>
                  </a:txBody>
                  <a:tcPr marL="118872" marR="91440" marT="36576" marB="22860" anchor="ctr">
                    <a:solidFill>
                      <a:srgbClr val="1226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train RMS</a:t>
                      </a:r>
                    </a:p>
                  </a:txBody>
                  <a:tcPr marL="118872" marR="91440" marT="36576" marB="22860" anchor="ctr">
                    <a:solidFill>
                      <a:srgbClr val="1226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span 위반 수</a:t>
                      </a:r>
                    </a:p>
                  </a:txBody>
                  <a:tcPr marL="118872" marR="91440" marT="36576" marB="22860" anchor="ctr">
                    <a:solidFill>
                      <a:srgbClr val="12263D"/>
                    </a:solidFill>
                  </a:tcPr>
                </a:tc>
              </a:tr>
              <a:tr h="498348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7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OLS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7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9262.615727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7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0.000000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7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0.008913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7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14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</a:tr>
              <a:tr h="498348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7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Ridge + G-opt</a:t>
                      </a:r>
                    </a:p>
                  </a:txBody>
                  <a:tcPr marL="118872" marR="91440" marT="36576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7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0.999335</a:t>
                      </a:r>
                    </a:p>
                  </a:txBody>
                  <a:tcPr marL="118872" marR="91440" marT="36576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7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41.816406</a:t>
                      </a:r>
                    </a:p>
                  </a:txBody>
                  <a:tcPr marL="118872" marR="91440" marT="36576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7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0.034705</a:t>
                      </a:r>
                    </a:p>
                  </a:txBody>
                  <a:tcPr marL="118872" marR="91440" marT="36576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7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1</a:t>
                      </a:r>
                    </a:p>
                  </a:txBody>
                  <a:tcPr marL="118872" marR="91440" marT="36576" marB="22860" anchor="ctr">
                    <a:solidFill>
                      <a:srgbClr val="FFFFFF"/>
                    </a:solidFill>
                  </a:tcPr>
                </a:tc>
              </a:tr>
              <a:tr h="498348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7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Ridge + G-opt + span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7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0.999335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7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41.816406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7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0.035542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7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0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48640" y="4197096"/>
            <a:ext cx="5321808" cy="1362456"/>
          </a:xfrm>
          <a:prstGeom prst="roundRect">
            <a:avLst>
              <a:gd name="adj" fmla="val 12000"/>
            </a:avLst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4197096"/>
            <a:ext cx="50292" cy="1362456"/>
          </a:xfrm>
          <a:prstGeom prst="rect">
            <a:avLst/>
          </a:prstGeom>
          <a:solidFill>
            <a:srgbClr val="0D8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352544"/>
            <a:ext cx="4956048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900" b="1">
                <a:solidFill>
                  <a:srgbClr val="0D8F9F"/>
                </a:solidFill>
                <a:latin typeface="Noto Sans CJK KR"/>
              </a:defRPr>
            </a:pPr>
            <a:r>
              <a:rPr>
                <a:ea typeface="Noto Sans CJK KR"/>
              </a:rPr>
              <a:t>Ridge 변화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873752"/>
            <a:ext cx="4956048" cy="60350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500" b="0">
                <a:solidFill>
                  <a:srgbClr val="22384D"/>
                </a:solidFill>
                <a:latin typeface="Noto Sans CJK KR"/>
              </a:defRPr>
            </a:pPr>
            <a:r>
              <a:rPr>
                <a:ea typeface="Noto Sans CJK KR"/>
              </a:rPr>
              <a:t>G: 9262.6 → 0.999335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500" b="0">
                <a:solidFill>
                  <a:srgbClr val="22384D"/>
                </a:solidFill>
                <a:latin typeface="Noto Sans CJK KR"/>
              </a:defRPr>
            </a:pPr>
            <a:r>
              <a:rPr>
                <a:ea typeface="Noto Sans CJK KR"/>
              </a:rPr>
              <a:t>train RMS는 증가 / 1개 span 위반 잔존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4197096"/>
            <a:ext cx="5394960" cy="1362456"/>
          </a:xfrm>
          <a:prstGeom prst="roundRect">
            <a:avLst>
              <a:gd name="adj" fmla="val 12000"/>
            </a:avLst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26480" y="4197096"/>
            <a:ext cx="50292" cy="1362456"/>
          </a:xfrm>
          <a:prstGeom prst="rect">
            <a:avLst/>
          </a:prstGeom>
          <a:solidFill>
            <a:srgbClr val="D88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4352544"/>
            <a:ext cx="50292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900" b="1">
                <a:solidFill>
                  <a:srgbClr val="D88325"/>
                </a:solidFill>
                <a:latin typeface="Noto Sans CJK KR"/>
              </a:defRPr>
            </a:pPr>
            <a:r>
              <a:rPr>
                <a:ea typeface="Noto Sans CJK KR"/>
              </a:rPr>
              <a:t>Span CD 변화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4873752"/>
            <a:ext cx="5029200" cy="60350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500" b="0">
                <a:solidFill>
                  <a:srgbClr val="22384D"/>
                </a:solidFill>
                <a:latin typeface="Noto Sans CJK KR"/>
              </a:defRPr>
            </a:pPr>
            <a:r>
              <a:rPr>
                <a:ea typeface="Noto Sans CJK KR"/>
              </a:rPr>
              <a:t>3 sweep 뒤 위반 수: 1 → 0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500" b="0">
                <a:solidFill>
                  <a:srgbClr val="22384D"/>
                </a:solidFill>
                <a:latin typeface="Noto Sans CJK KR"/>
              </a:defRPr>
            </a:pPr>
            <a:r>
              <a:rPr>
                <a:ea typeface="Noto Sans CJK KR"/>
              </a:rPr>
              <a:t>G는 그대로 / train RMS는 추가 증가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961888"/>
            <a:ext cx="10972800" cy="356616"/>
          </a:xfrm>
          <a:prstGeom prst="roundRect">
            <a:avLst>
              <a:gd name="adj" fmla="val 12000"/>
            </a:avLst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4944" y="5984748"/>
            <a:ext cx="10652760" cy="28346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150" b="0">
                <a:solidFill>
                  <a:srgbClr val="D88325"/>
                </a:solidFill>
                <a:latin typeface="Noto Sans CJK KR"/>
              </a:defRPr>
            </a:pPr>
            <a:r>
              <a:rPr>
                <a:ea typeface="Noto Sans CJK KR"/>
              </a:rPr>
              <a:t>Train RMS 감소만으로 설정을 고르면 공간 예측 안정성을 놓칠 수 있습니다. OCO 관계·독립 검증은 별도 평가 대상입니다.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D8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060704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000" b="1">
                <a:solidFill>
                  <a:srgbClr val="0D8F9F"/>
                </a:solidFill>
                <a:latin typeface="Noto Sans CJK KR"/>
              </a:defRPr>
            </a:pPr>
            <a:r>
              <a:rPr>
                <a:ea typeface="Noto Sans CJK KR"/>
              </a:rPr>
              <a:t>14 / DIAGNOSTICS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52120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2800" b="1">
                <a:solidFill>
                  <a:srgbClr val="12263D"/>
                </a:solidFill>
                <a:latin typeface="Noto Sans CJK KR"/>
              </a:defRPr>
            </a:pPr>
            <a:r>
              <a:rPr>
                <a:ea typeface="Noto Sans CJK KR"/>
              </a:rPr>
              <a:t>현재 status='ok'만으로 합격을 판단할 수 없다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243584"/>
            <a:ext cx="11018520" cy="3474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200" b="0">
                <a:solidFill>
                  <a:srgbClr val="63798D"/>
                </a:solidFill>
                <a:latin typeface="Noto Sans CJK KR"/>
              </a:defRPr>
            </a:pPr>
            <a:r>
              <a:rPr>
                <a:ea typeface="Noto Sans CJK KR"/>
              </a:rPr>
              <a:t>계산 반환과 제약 통과, 수렴 상태를 분리해서 확인해야 합니다.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6473952"/>
            <a:ext cx="11018520" cy="10972"/>
          </a:xfrm>
          <a:prstGeom prst="rect">
            <a:avLst/>
          </a:prstGeom>
          <a:solidFill>
            <a:srgbClr val="D8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7" y="6547104"/>
            <a:ext cx="1065276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850" b="0">
                <a:solidFill>
                  <a:srgbClr val="63798D"/>
                </a:solidFill>
                <a:latin typeface="Noto Sans CJK KR"/>
              </a:defRPr>
            </a:pPr>
            <a:r>
              <a:rPr>
                <a:ea typeface="Noto Sans CJK KR"/>
              </a:rPr>
              <a:t>MERGE/013.py · L696–720, L948–964   |   source 00568f2 · 2026.10.13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37960"/>
            <a:ext cx="393192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5000"/>
              </a:lnSpc>
              <a:spcAft>
                <a:spcPts val="500"/>
              </a:spcAft>
              <a:defRPr sz="1000" b="1">
                <a:solidFill>
                  <a:srgbClr val="0D8F9F"/>
                </a:solidFill>
                <a:latin typeface="Noto Sans CJK KR"/>
              </a:defRPr>
            </a:pPr>
            <a:r>
              <a:rPr>
                <a:ea typeface="Noto Sans CJK KR"/>
              </a:rPr>
              <a:t>26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773936"/>
          <a:ext cx="10972800" cy="40050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657600"/>
                <a:gridCol w="5303520"/>
              </a:tblGrid>
              <a:tr h="572153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00" b="1">
                          <a:solidFill>
                            <a:srgbClr val="FFFFFF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확인 항목</a:t>
                      </a:r>
                    </a:p>
                  </a:txBody>
                  <a:tcPr marL="118872" marR="91440" marT="36576" marB="22860" anchor="ctr">
                    <a:solidFill>
                      <a:srgbClr val="1226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00" b="1">
                          <a:solidFill>
                            <a:srgbClr val="FFFFFF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현재 기록</a:t>
                      </a:r>
                    </a:p>
                  </a:txBody>
                  <a:tcPr marL="118872" marR="91440" marT="36576" marB="22860" anchor="ctr">
                    <a:solidFill>
                      <a:srgbClr val="1226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00" b="1">
                          <a:solidFill>
                            <a:srgbClr val="FFFFFF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해석할 때 주의</a:t>
                      </a:r>
                    </a:p>
                  </a:txBody>
                  <a:tcPr marL="118872" marR="91440" marT="36576" marB="22860" anchor="ctr">
                    <a:solidFill>
                      <a:srgbClr val="12263D"/>
                    </a:solidFill>
                  </a:tcPr>
                </a:tc>
              </a:tr>
              <a:tr h="572153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G-opt spec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gopt_x/y, gopt_iter_x/y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반복 cap 뒤에도 G≥1 결과가 반환될 수 있음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</a:tr>
              <a:tr h="572153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Span 통과</a:t>
                      </a:r>
                    </a:p>
                  </a:txBody>
                  <a:tcPr marL="118872" marR="91440" marT="36576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span_violation_count_x/y</a:t>
                      </a:r>
                    </a:p>
                  </a:txBody>
                  <a:tcPr marL="118872" marR="91440" marT="36576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0인지 직접 확인해야 함</a:t>
                      </a:r>
                    </a:p>
                  </a:txBody>
                  <a:tcPr marL="118872" marR="91440" marT="36576" marB="22860" anchor="ctr">
                    <a:solidFill>
                      <a:srgbClr val="FFFFFF"/>
                    </a:solidFill>
                  </a:tcPr>
                </a:tc>
              </a:tr>
              <a:tr h="572153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CD 수렴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span_iter_x/y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last_delta와 converged는 저장되지 않음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</a:tr>
              <a:tr h="572153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rank / condition</a:t>
                      </a:r>
                    </a:p>
                  </a:txBody>
                  <a:tcPr marL="118872" marR="91440" marT="36576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현재 coef·summary에 없음</a:t>
                      </a:r>
                    </a:p>
                  </a:txBody>
                  <a:tcPr marL="118872" marR="91440" marT="36576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n_valid가 충분해도 독립 정보량은 작을 수 있음</a:t>
                      </a:r>
                    </a:p>
                  </a:txBody>
                  <a:tcPr marL="118872" marR="91440" marT="36576" marB="22860" anchor="ctr">
                    <a:solidFill>
                      <a:srgbClr val="FFFFFF"/>
                    </a:solidFill>
                  </a:tcPr>
                </a:tc>
              </a:tr>
              <a:tr h="572153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유효행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notna mask, n_valid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Inf·중복 좌표는 별도 검증 대상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</a:tr>
              <a:tr h="572154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method / status</a:t>
                      </a:r>
                    </a:p>
                  </a:txBody>
                  <a:tcPr marL="118872" marR="91440" marT="36576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ols / ridge_gopt / box_cd, ok</a:t>
                      </a:r>
                    </a:p>
                  </a:txBody>
                  <a:tcPr marL="118872" marR="91440" marT="36576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경로 label이지 품질 합격 여부가 아님</a:t>
                      </a:r>
                    </a:p>
                  </a:txBody>
                  <a:tcPr marL="118872" marR="91440" marT="36576" marB="2286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48640" y="5961888"/>
            <a:ext cx="10972800" cy="356616"/>
          </a:xfrm>
          <a:prstGeom prst="roundRect">
            <a:avLst>
              <a:gd name="adj" fmla="val 12000"/>
            </a:avLst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5984748"/>
            <a:ext cx="10652760" cy="28346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150" b="0">
                <a:solidFill>
                  <a:srgbClr val="D88325"/>
                </a:solidFill>
                <a:latin typeface="Noto Sans CJK KR"/>
              </a:defRPr>
            </a:pPr>
            <a:r>
              <a:rPr>
                <a:ea typeface="Noto Sans CJK KR"/>
              </a:rPr>
              <a:t>위 항목은 현재 코드에서 확인한 진단 한계입니다. 이번 PPT 제작 과정에서는 회귀 로직을 수정하지 않았습니다.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D8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060704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000" b="1">
                <a:solidFill>
                  <a:srgbClr val="0D8F9F"/>
                </a:solidFill>
                <a:latin typeface="Noto Sans CJK KR"/>
              </a:defRPr>
            </a:pPr>
            <a:r>
              <a:rPr>
                <a:ea typeface="Noto Sans CJK KR"/>
              </a:rPr>
              <a:t>15 / CURRENT OUTPUTS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52120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2800" b="1">
                <a:solidFill>
                  <a:srgbClr val="12263D"/>
                </a:solidFill>
                <a:latin typeface="Noto Sans CJK KR"/>
              </a:defRPr>
            </a:pPr>
            <a:r>
              <a:rPr>
                <a:ea typeface="Noto Sans CJK KR"/>
              </a:rPr>
              <a:t>어떤 값이 이미 저장되고 있는가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243584"/>
            <a:ext cx="11018520" cy="3474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200" b="0">
                <a:solidFill>
                  <a:srgbClr val="63798D"/>
                </a:solidFill>
                <a:latin typeface="Noto Sans CJK KR"/>
              </a:defRPr>
            </a:pPr>
            <a:r>
              <a:rPr>
                <a:ea typeface="Noto Sans CJK KR"/>
              </a:rPr>
              <a:t>새로운 저장 요구와 현재 반환 테이블을 연결해 봅니다.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6473952"/>
            <a:ext cx="11018520" cy="10972"/>
          </a:xfrm>
          <a:prstGeom prst="rect">
            <a:avLst/>
          </a:prstGeom>
          <a:solidFill>
            <a:srgbClr val="D8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7" y="6547104"/>
            <a:ext cx="1065276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850" b="0">
                <a:solidFill>
                  <a:srgbClr val="63798D"/>
                </a:solidFill>
                <a:latin typeface="Noto Sans CJK KR"/>
              </a:defRPr>
            </a:pPr>
            <a:r>
              <a:rPr>
                <a:ea typeface="Noto Sans CJK KR"/>
              </a:rPr>
              <a:t>MERGE/013.py · L750–767, L887–981, L1043–1047   |   source 00568f2 · 2026.10.13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37960"/>
            <a:ext cx="393192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5000"/>
              </a:lnSpc>
              <a:spcAft>
                <a:spcPts val="500"/>
              </a:spcAft>
              <a:defRPr sz="1000" b="1">
                <a:solidFill>
                  <a:srgbClr val="0D8F9F"/>
                </a:solidFill>
                <a:latin typeface="Noto Sans CJK KR"/>
              </a:defRPr>
            </a:pPr>
            <a:r>
              <a:rPr>
                <a:ea typeface="Noto Sans CJK KR"/>
              </a:rPr>
              <a:t>27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773936"/>
          <a:ext cx="10972800" cy="40050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4114800"/>
                <a:gridCol w="5212080"/>
              </a:tblGrid>
              <a:tr h="572153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00" b="1">
                          <a:solidFill>
                            <a:srgbClr val="FFFFFF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단위</a:t>
                      </a:r>
                    </a:p>
                  </a:txBody>
                  <a:tcPr marL="118872" marR="91440" marT="36576" marB="22860" anchor="ctr">
                    <a:solidFill>
                      <a:srgbClr val="1226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00" b="1">
                          <a:solidFill>
                            <a:srgbClr val="FFFFFF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현재 결과</a:t>
                      </a:r>
                    </a:p>
                  </a:txBody>
                  <a:tcPr marL="118872" marR="91440" marT="36576" marB="22860" anchor="ctr">
                    <a:solidFill>
                      <a:srgbClr val="1226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00" b="1">
                          <a:solidFill>
                            <a:srgbClr val="FFFFFF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주요 내용</a:t>
                      </a:r>
                    </a:p>
                  </a:txBody>
                  <a:tcPr marL="118872" marR="91440" marT="36576" marB="22860" anchor="ctr">
                    <a:solidFill>
                      <a:srgbClr val="12263D"/>
                    </a:solidFill>
                  </a:tcPr>
                </a:tc>
              </a:tr>
              <a:tr h="572153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측정점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df_adi_cpe / df_oco_cpe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CPE_fit, real_residual, G, λmax, method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</a:tr>
              <a:tr h="572153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shot 계수</a:t>
                      </a:r>
                    </a:p>
                  </a:txBody>
                  <a:tcPr marL="118872" marR="91440" marT="36576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coef_adi_cpe / coef_oco_cpe</a:t>
                      </a:r>
                    </a:p>
                  </a:txBody>
                  <a:tcPr marL="118872" marR="91440" marT="36576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RK1_X … 선택 38개 β, span_RK*, 반복 수, 위반 수</a:t>
                      </a:r>
                    </a:p>
                  </a:txBody>
                  <a:tcPr marL="118872" marR="91440" marT="36576" marB="22860" anchor="ctr">
                    <a:solidFill>
                      <a:srgbClr val="FFFFFF"/>
                    </a:solidFill>
                  </a:tcPr>
                </a:tc>
              </a:tr>
              <a:tr h="572153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shot 요약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summary_adi_cpe / summary_oco_cpe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n_valid/virtual, RMS 전후, G, λmax, 진단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</a:tr>
              <a:tr h="572153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실제 저장</a:t>
                      </a:r>
                    </a:p>
                  </a:txBody>
                  <a:tcPr marL="118872" marR="91440" marT="36576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ADI/OCO.parquet</a:t>
                      </a:r>
                    </a:p>
                  </a:txBody>
                  <a:tcPr marL="118872" marR="91440" marT="36576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측정점 테이블 전체 저장</a:t>
                      </a:r>
                    </a:p>
                  </a:txBody>
                  <a:tcPr marL="118872" marR="91440" marT="36576" marB="22860" anchor="ctr">
                    <a:solidFill>
                      <a:srgbClr val="FFFFFF"/>
                    </a:solidFill>
                  </a:tcPr>
                </a:tc>
              </a:tr>
              <a:tr h="572153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실제 저장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coef_*_cpe38.xlsx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shot별 계수 테이블 저장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</a:tr>
              <a:tr h="572154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기본 미저장</a:t>
                      </a:r>
                    </a:p>
                  </a:txBody>
                  <a:tcPr marL="118872" marR="91440" marT="36576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summary_*_cpe38.xlsx</a:t>
                      </a:r>
                    </a:p>
                  </a:txBody>
                  <a:tcPr marL="118872" marR="91440" marT="36576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main의 저장 명령은 주석 처리</a:t>
                      </a:r>
                    </a:p>
                  </a:txBody>
                  <a:tcPr marL="118872" marR="91440" marT="36576" marB="2286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48640" y="5961888"/>
            <a:ext cx="10972800" cy="356616"/>
          </a:xfrm>
          <a:prstGeom prst="roundRect">
            <a:avLst>
              <a:gd name="adj" fmla="val 12000"/>
            </a:avLst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5984748"/>
            <a:ext cx="10652760" cy="28346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150" b="0">
                <a:solidFill>
                  <a:srgbClr val="D88325"/>
                </a:solidFill>
                <a:latin typeface="Noto Sans CJK KR"/>
              </a:defRPr>
            </a:pPr>
            <a:r>
              <a:rPr>
                <a:ea typeface="Noto Sans CJK KR"/>
              </a:rPr>
              <a:t>λbase·각 항 λⱼ·effective G-opt type·CD last_delta는 현재 저장되지 않습니다. λmax는 전체 λ 벡터의 대체물이 아닙니다.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D8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060704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000" b="1">
                <a:solidFill>
                  <a:srgbClr val="0D8F9F"/>
                </a:solidFill>
                <a:latin typeface="Noto Sans CJK KR"/>
              </a:defRPr>
            </a:pPr>
            <a:r>
              <a:rPr>
                <a:ea typeface="Noto Sans CJK KR"/>
              </a:rPr>
              <a:t>16 / NEXT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52120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2800" b="1">
                <a:solidFill>
                  <a:srgbClr val="12263D"/>
                </a:solidFill>
                <a:latin typeface="Noto Sans CJK KR"/>
              </a:defRPr>
            </a:pPr>
            <a:r>
              <a:rPr>
                <a:ea typeface="Noto Sans CJK KR"/>
              </a:rPr>
              <a:t>다음 구현의 저장 단위를 먼저 정한다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243584"/>
            <a:ext cx="11018520" cy="3474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200" b="0">
                <a:solidFill>
                  <a:srgbClr val="63798D"/>
                </a:solidFill>
                <a:latin typeface="Noto Sans CJK KR"/>
              </a:defRPr>
            </a:pPr>
            <a:r>
              <a:rPr>
                <a:ea typeface="Noto Sans CJK KR"/>
              </a:rPr>
              <a:t>아래는 권장 연결안입니다. 현재 소스에 추가 구현한 상태는 아닙니다.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6473952"/>
            <a:ext cx="11018520" cy="10972"/>
          </a:xfrm>
          <a:prstGeom prst="rect">
            <a:avLst/>
          </a:prstGeom>
          <a:solidFill>
            <a:srgbClr val="D8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7" y="6547104"/>
            <a:ext cx="1065276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850" b="0">
                <a:solidFill>
                  <a:srgbClr val="63798D"/>
                </a:solidFill>
                <a:latin typeface="Noto Sans CJK KR"/>
              </a:defRPr>
            </a:pPr>
            <a:r>
              <a:rPr>
                <a:ea typeface="Noto Sans CJK KR"/>
              </a:rPr>
              <a:t>MERGE/013.py · 012.py L333–372 / 013.py L905–981   |   source 00568f2 · 2026.10.13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37960"/>
            <a:ext cx="393192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5000"/>
              </a:lnSpc>
              <a:spcAft>
                <a:spcPts val="500"/>
              </a:spcAft>
              <a:defRPr sz="1000" b="1">
                <a:solidFill>
                  <a:srgbClr val="0D8F9F"/>
                </a:solidFill>
                <a:latin typeface="Noto Sans CJK KR"/>
              </a:defRPr>
            </a:pPr>
            <a:r>
              <a:rPr>
                <a:ea typeface="Noto Sans CJK KR"/>
              </a:rPr>
              <a:t>28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19656"/>
            <a:ext cx="5321808" cy="3639312"/>
          </a:xfrm>
          <a:prstGeom prst="roundRect">
            <a:avLst>
              <a:gd name="adj" fmla="val 12000"/>
            </a:avLst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819656"/>
            <a:ext cx="50292" cy="3639312"/>
          </a:xfrm>
          <a:prstGeom prst="rect">
            <a:avLst/>
          </a:prstGeom>
          <a:solidFill>
            <a:srgbClr val="0D8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975104"/>
            <a:ext cx="4956048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900" b="1">
                <a:solidFill>
                  <a:srgbClr val="0D8F9F"/>
                </a:solidFill>
                <a:latin typeface="Noto Sans CJK KR"/>
              </a:defRPr>
            </a:pPr>
            <a:r>
              <a:rPr>
                <a:ea typeface="Noto Sans CJK KR"/>
              </a:rPr>
              <a:t>Wafer WK/RK 결과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496312"/>
            <a:ext cx="4956048" cy="28803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700" b="0">
                <a:solidFill>
                  <a:srgbClr val="22384D"/>
                </a:solidFill>
                <a:latin typeface="Noto Sans CJK KR"/>
              </a:defRPr>
            </a:pPr>
            <a:r>
              <a:rPr>
                <a:ea typeface="Noto Sans CJK KR"/>
              </a:rPr>
              <a:t>key: mode + LOT_ID + Wafer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700" b="0">
                <a:solidFill>
                  <a:srgbClr val="22384D"/>
                </a:solidFill>
                <a:latin typeface="Noto Sans CJK KR"/>
              </a:defRPr>
            </a:pPr>
          </a:p>
          <a:p>
            <a:pPr>
              <a:lnSpc>
                <a:spcPct val="105000"/>
              </a:lnSpc>
              <a:spcAft>
                <a:spcPts val="500"/>
              </a:spcAft>
              <a:defRPr sz="1700" b="0">
                <a:solidFill>
                  <a:srgbClr val="22384D"/>
                </a:solidFill>
                <a:latin typeface="Noto Sans CJK KR"/>
              </a:defRPr>
            </a:pPr>
            <a:r>
              <a:rPr>
                <a:ea typeface="Noto Sans CJK KR"/>
              </a:rPr>
              <a:t>WK coefficients / common RK coefficients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700" b="0">
                <a:solidFill>
                  <a:srgbClr val="22384D"/>
                </a:solidFill>
                <a:latin typeface="Noto Sans CJK KR"/>
              </a:defRPr>
            </a:pPr>
            <a:r>
              <a:rPr>
                <a:ea typeface="Noto Sans CJK KR"/>
              </a:rPr>
              <a:t>wk_fit_x/y, rk_fit_x/y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700" b="0">
                <a:solidFill>
                  <a:srgbClr val="22384D"/>
                </a:solidFill>
                <a:latin typeface="Noto Sans CJK KR"/>
              </a:defRPr>
            </a:pPr>
            <a:r>
              <a:rPr>
                <a:ea typeface="Noto Sans CJK KR"/>
              </a:rPr>
              <a:t>raw_minus_total_fit_x/y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700" b="0">
                <a:solidFill>
                  <a:srgbClr val="22384D"/>
                </a:solidFill>
                <a:latin typeface="Noto Sans CJK KR"/>
              </a:defRPr>
            </a:pPr>
          </a:p>
          <a:p>
            <a:pPr>
              <a:lnSpc>
                <a:spcPct val="105000"/>
              </a:lnSpc>
              <a:spcAft>
                <a:spcPts val="500"/>
              </a:spcAft>
              <a:defRPr sz="1700" b="0">
                <a:solidFill>
                  <a:srgbClr val="22384D"/>
                </a:solidFill>
                <a:latin typeface="Noto Sans CJK KR"/>
              </a:defRPr>
            </a:pPr>
            <a:r>
              <a:rPr>
                <a:ea typeface="Noto Sans CJK KR"/>
              </a:rPr>
              <a:t>stage = wafer_joint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819656"/>
            <a:ext cx="5394960" cy="3639312"/>
          </a:xfrm>
          <a:prstGeom prst="roundRect">
            <a:avLst>
              <a:gd name="adj" fmla="val 12000"/>
            </a:avLst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26480" y="1819656"/>
            <a:ext cx="50292" cy="3639312"/>
          </a:xfrm>
          <a:prstGeom prst="rect">
            <a:avLst/>
          </a:prstGeom>
          <a:solidFill>
            <a:srgbClr val="D88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1975104"/>
            <a:ext cx="50292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900" b="1">
                <a:solidFill>
                  <a:srgbClr val="D88325"/>
                </a:solidFill>
                <a:latin typeface="Noto Sans CJK KR"/>
              </a:defRPr>
            </a:pPr>
            <a:r>
              <a:rPr>
                <a:ea typeface="Noto Sans CJK KR"/>
              </a:rPr>
              <a:t>Shot CPE 결과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496312"/>
            <a:ext cx="5029200" cy="28803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700" b="0">
                <a:solidFill>
                  <a:srgbClr val="22384D"/>
                </a:solidFill>
                <a:latin typeface="Noto Sans CJK KR"/>
              </a:defRPr>
            </a:pPr>
            <a:r>
              <a:rPr>
                <a:ea typeface="Noto Sans CJK KR"/>
              </a:rPr>
              <a:t>key: mode + LOT_ID + Wafer + fcp_x/y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700" b="0">
                <a:solidFill>
                  <a:srgbClr val="22384D"/>
                </a:solidFill>
                <a:latin typeface="Noto Sans CJK KR"/>
              </a:defRPr>
            </a:pPr>
          </a:p>
          <a:p>
            <a:pPr>
              <a:lnSpc>
                <a:spcPct val="105000"/>
              </a:lnSpc>
              <a:spcAft>
                <a:spcPts val="500"/>
              </a:spcAft>
              <a:defRPr sz="1700" b="0">
                <a:solidFill>
                  <a:srgbClr val="22384D"/>
                </a:solidFill>
                <a:latin typeface="Noto Sans CJK KR"/>
              </a:defRPr>
            </a:pPr>
            <a:r>
              <a:rPr>
                <a:ea typeface="Noto Sans CJK KR"/>
              </a:rPr>
              <a:t>CPE RK 38개와 제거한 CPE_fit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700" b="0">
                <a:solidFill>
                  <a:srgbClr val="22384D"/>
                </a:solidFill>
                <a:latin typeface="Noto Sans CJK KR"/>
              </a:defRPr>
            </a:pPr>
            <a:r>
              <a:rPr>
                <a:ea typeface="Noto Sans CJK KR"/>
              </a:rPr>
              <a:t>G·λ·span·수렴·평가점 출처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700" b="0">
                <a:solidFill>
                  <a:srgbClr val="22384D"/>
                </a:solidFill>
                <a:latin typeface="Noto Sans CJK KR"/>
              </a:defRPr>
            </a:pPr>
            <a:r>
              <a:rPr>
                <a:ea typeface="Noto Sans CJK KR"/>
              </a:rPr>
              <a:t>real_residual_x/y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700" b="0">
                <a:solidFill>
                  <a:srgbClr val="22384D"/>
                </a:solidFill>
                <a:latin typeface="Noto Sans CJK KR"/>
              </a:defRPr>
            </a:pPr>
          </a:p>
          <a:p>
            <a:pPr>
              <a:lnSpc>
                <a:spcPct val="105000"/>
              </a:lnSpc>
              <a:spcAft>
                <a:spcPts val="500"/>
              </a:spcAft>
              <a:defRPr sz="1700" b="0">
                <a:solidFill>
                  <a:srgbClr val="22384D"/>
                </a:solidFill>
                <a:latin typeface="Noto Sans CJK KR"/>
              </a:defRPr>
            </a:pPr>
            <a:r>
              <a:rPr>
                <a:ea typeface="Noto Sans CJK KR"/>
              </a:rPr>
              <a:t>stage = shot_cpe38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961888"/>
            <a:ext cx="10972800" cy="356616"/>
          </a:xfrm>
          <a:prstGeom prst="roundRect">
            <a:avLst>
              <a:gd name="adj" fmla="val 12000"/>
            </a:avLst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4944" y="5984748"/>
            <a:ext cx="10652760" cy="28346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150" b="0">
                <a:solidFill>
                  <a:srgbClr val="D88325"/>
                </a:solidFill>
                <a:latin typeface="Noto Sans CJK KR"/>
              </a:defRPr>
            </a:pPr>
            <a:r>
              <a:rPr>
                <a:ea typeface="Noto Sans CJK KR"/>
              </a:rPr>
              <a:t>ADI/OCO를 구분하고 wafer RK와 shot RK의 동일 이름을 섞지 않는 저장 구조가 필요합니다.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D8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060704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000" b="1">
                <a:solidFill>
                  <a:srgbClr val="0D8F9F"/>
                </a:solidFill>
                <a:latin typeface="Noto Sans CJK KR"/>
              </a:defRPr>
            </a:pPr>
            <a:r>
              <a:rPr>
                <a:ea typeface="Noto Sans CJK KR"/>
              </a:rPr>
              <a:t>17 / DISCUSSION BEFORE REVISION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52120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2800" b="1">
                <a:solidFill>
                  <a:srgbClr val="12263D"/>
                </a:solidFill>
                <a:latin typeface="Noto Sans CJK KR"/>
              </a:defRPr>
            </a:pPr>
            <a:r>
              <a:rPr>
                <a:ea typeface="Noto Sans CJK KR"/>
              </a:rPr>
              <a:t>CPE 로직 수정 전에 합의할 항목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243584"/>
            <a:ext cx="11018520" cy="3474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200" b="0">
                <a:solidFill>
                  <a:srgbClr val="63798D"/>
                </a:solidFill>
                <a:latin typeface="Noto Sans CJK KR"/>
              </a:defRPr>
            </a:pPr>
            <a:r>
              <a:rPr>
                <a:ea typeface="Noto Sans CJK KR"/>
              </a:rPr>
              <a:t>현재 동작을 이해한 뒤, 업무상 의도와 맞춰 변경 범위를 결정합니다.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6473952"/>
            <a:ext cx="11018520" cy="10972"/>
          </a:xfrm>
          <a:prstGeom prst="rect">
            <a:avLst/>
          </a:prstGeom>
          <a:solidFill>
            <a:srgbClr val="D8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7" y="6547104"/>
            <a:ext cx="1065276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850" b="0">
                <a:solidFill>
                  <a:srgbClr val="63798D"/>
                </a:solidFill>
                <a:latin typeface="Noto Sans CJK KR"/>
              </a:defRPr>
            </a:pPr>
            <a:r>
              <a:rPr>
                <a:ea typeface="Noto Sans CJK KR"/>
              </a:rPr>
              <a:t>MERGE/013.py · L30–45, L406–570, L623–722   |   source 00568f2 · 2026.10.13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37960"/>
            <a:ext cx="393192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5000"/>
              </a:lnSpc>
              <a:spcAft>
                <a:spcPts val="500"/>
              </a:spcAft>
              <a:defRPr sz="1000" b="1">
                <a:solidFill>
                  <a:srgbClr val="0D8F9F"/>
                </a:solidFill>
                <a:latin typeface="Noto Sans CJK KR"/>
              </a:defRPr>
            </a:pPr>
            <a:r>
              <a:rPr>
                <a:ea typeface="Noto Sans CJK KR"/>
              </a:rPr>
              <a:t>29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773936"/>
          <a:ext cx="10972800" cy="40050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1720"/>
                <a:gridCol w="8641080"/>
              </a:tblGrid>
              <a:tr h="500634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600" b="1">
                          <a:solidFill>
                            <a:srgbClr val="FFFFFF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논의 항목</a:t>
                      </a:r>
                    </a:p>
                  </a:txBody>
                  <a:tcPr marL="118872" marR="91440" marT="36576" marB="22860" anchor="ctr">
                    <a:solidFill>
                      <a:srgbClr val="1226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600" b="1">
                          <a:solidFill>
                            <a:srgbClr val="FFFFFF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결정할 내용</a:t>
                      </a:r>
                    </a:p>
                  </a:txBody>
                  <a:tcPr marL="118872" marR="91440" marT="36576" marB="22860" anchor="ctr">
                    <a:solidFill>
                      <a:srgbClr val="12263D"/>
                    </a:solidFill>
                  </a:tcPr>
                </a:tc>
              </a:tr>
              <a:tr h="500634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6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Span의 업무 의미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6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contribution range 제한인가, signed coefficient / offset 제한인가?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</a:tr>
              <a:tr h="500634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6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Tolerance</a:t>
                      </a:r>
                    </a:p>
                  </a:txBody>
                  <a:tcPr marL="118872" marR="91440" marT="36576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6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0.01 절대 여유를 작은 nominal limit에도 동일하게 적용할 것인가?</a:t>
                      </a:r>
                    </a:p>
                  </a:txBody>
                  <a:tcPr marL="118872" marR="91440" marT="36576" marB="22860" anchor="ctr">
                    <a:solidFill>
                      <a:srgbClr val="FFFFFF"/>
                    </a:solidFill>
                  </a:tcPr>
                </a:tc>
              </a:tr>
              <a:tr h="500634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6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평가 영역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6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corner/center·144 mm clipping·0점 fallback 정책을 유지할 것인가?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</a:tr>
              <a:tr h="500634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6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부족한 측정점</a:t>
                      </a:r>
                    </a:p>
                  </a:txBody>
                  <a:tcPr marL="118872" marR="91440" marT="36576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6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count / rank / coverage 기준과 OLS 허용 여부를 어떻게 정할 것인가?</a:t>
                      </a:r>
                    </a:p>
                  </a:txBody>
                  <a:tcPr marL="118872" marR="91440" marT="36576" marB="22860" anchor="ctr">
                    <a:solidFill>
                      <a:srgbClr val="FFFFFF"/>
                    </a:solidFill>
                  </a:tcPr>
                </a:tc>
              </a:tr>
              <a:tr h="500634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6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G-opt 정의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6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Type 1을 유지할지, Type 2 주석·구현 차이를 어떻게 정리할지?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</a:tr>
              <a:tr h="500634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6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합격 상태 저장</a:t>
                      </a:r>
                    </a:p>
                  </a:txBody>
                  <a:tcPr marL="118872" marR="91440" marT="36576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6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G pass, span pass, CD 수렴과 계산 성공을 어떻게 분리할지?</a:t>
                      </a:r>
                    </a:p>
                  </a:txBody>
                  <a:tcPr marL="118872" marR="91440" marT="36576" marB="22860" anchor="ctr">
                    <a:solidFill>
                      <a:srgbClr val="FFFFFF"/>
                    </a:solidFill>
                  </a:tcPr>
                </a:tc>
              </a:tr>
              <a:tr h="500634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6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재현 정보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6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최종 λ 벡터와 설정 snapshot을 계수와 함께 저장할지?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48640" y="5961888"/>
            <a:ext cx="10972800" cy="356616"/>
          </a:xfrm>
          <a:prstGeom prst="roundRect">
            <a:avLst>
              <a:gd name="adj" fmla="val 12000"/>
            </a:avLst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5984748"/>
            <a:ext cx="10652760" cy="28346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150" b="0">
                <a:solidFill>
                  <a:srgbClr val="D88325"/>
                </a:solidFill>
                <a:latin typeface="Noto Sans CJK KR"/>
              </a:defRPr>
            </a:pPr>
            <a:r>
              <a:rPr>
                <a:ea typeface="Noto Sans CJK KR"/>
              </a:rPr>
              <a:t>λ·span을 먼저 조정하기보다 단위와 제한 대상의 정의부터 확정하는 것이 다음 구현의 출발점입니다.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D8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060704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000" b="1">
                <a:solidFill>
                  <a:srgbClr val="0D8F9F"/>
                </a:solidFill>
                <a:latin typeface="Noto Sans CJK KR"/>
              </a:defRPr>
            </a:pPr>
            <a:r>
              <a:rPr>
                <a:ea typeface="Noto Sans CJK KR"/>
              </a:rPr>
              <a:t>APPENDIX / FULL COEFFICIENT REFERENCE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52120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2800" b="1">
                <a:solidFill>
                  <a:srgbClr val="12263D"/>
                </a:solidFill>
                <a:latin typeface="Noto Sans CJK KR"/>
              </a:defRPr>
            </a:pPr>
            <a:r>
              <a:rPr>
                <a:ea typeface="Noto Sans CJK KR"/>
              </a:rPr>
              <a:t>X 방향 RK 대응표 1/2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243584"/>
            <a:ext cx="11018520" cy="3474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200" b="0">
                <a:solidFill>
                  <a:srgbClr val="63798D"/>
                </a:solidFill>
                <a:latin typeface="Noto Sans CJK KR"/>
              </a:defRPr>
            </a:pPr>
            <a:r>
              <a:rPr>
                <a:ea typeface="Noto Sans CJK KR"/>
              </a:rPr>
              <a:t>행렬 열 순서 1–11 / X 방향 총 21개 항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6473952"/>
            <a:ext cx="11018520" cy="10972"/>
          </a:xfrm>
          <a:prstGeom prst="rect">
            <a:avLst/>
          </a:prstGeom>
          <a:solidFill>
            <a:srgbClr val="D8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7" y="6547104"/>
            <a:ext cx="1065276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850" b="0">
                <a:solidFill>
                  <a:srgbClr val="63798D"/>
                </a:solidFill>
                <a:latin typeface="Noto Sans CJK KR"/>
              </a:defRPr>
            </a:pPr>
            <a:r>
              <a:rPr>
                <a:ea typeface="Noto Sans CJK KR"/>
              </a:rPr>
              <a:t>MERGE/013.py · L52–191, L223–239   |   source 00568f2 · 2026.10.13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37960"/>
            <a:ext cx="393192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5000"/>
              </a:lnSpc>
              <a:spcAft>
                <a:spcPts val="500"/>
              </a:spcAft>
              <a:defRPr sz="1000" b="1">
                <a:solidFill>
                  <a:srgbClr val="0D8F9F"/>
                </a:solidFill>
                <a:latin typeface="Noto Sans CJK KR"/>
              </a:defRPr>
            </a:pPr>
            <a:r>
              <a:rPr>
                <a:ea typeface="Noto Sans CJK KR"/>
              </a:rPr>
              <a:t>30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773936"/>
          <a:ext cx="10972800" cy="40782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2688"/>
                <a:gridCol w="4443984"/>
                <a:gridCol w="1005840"/>
                <a:gridCol w="2286000"/>
                <a:gridCol w="2304288"/>
              </a:tblGrid>
              <a:tr h="339852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50" b="1">
                          <a:solidFill>
                            <a:srgbClr val="FFFFFF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RK</a:t>
                      </a:r>
                    </a:p>
                  </a:txBody>
                  <a:tcPr marL="118872" marR="91440" marT="36576" marB="22860" anchor="ctr">
                    <a:solidFill>
                      <a:srgbClr val="1226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50" b="1">
                          <a:solidFill>
                            <a:srgbClr val="FFFFFF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실제 기저항</a:t>
                      </a:r>
                    </a:p>
                  </a:txBody>
                  <a:tcPr marL="118872" marR="91440" marT="36576" marB="22860" anchor="ctr">
                    <a:solidFill>
                      <a:srgbClr val="1226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50" b="1">
                          <a:solidFill>
                            <a:srgbClr val="FFFFFF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valve</a:t>
                      </a:r>
                    </a:p>
                  </a:txBody>
                  <a:tcPr marL="118872" marR="91440" marT="36576" marB="22860" anchor="ctr">
                    <a:solidFill>
                      <a:srgbClr val="1226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50" b="1">
                          <a:solidFill>
                            <a:srgbClr val="FFFFFF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F2F min/max</a:t>
                      </a:r>
                    </a:p>
                  </a:txBody>
                  <a:tcPr marL="118872" marR="91440" marT="36576" marB="22860" anchor="ctr">
                    <a:solidFill>
                      <a:srgbClr val="1226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50" b="1">
                          <a:solidFill>
                            <a:srgbClr val="FFFFFF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HARD min/max</a:t>
                      </a:r>
                    </a:p>
                  </a:txBody>
                  <a:tcPr marL="118872" marR="91440" marT="36576" marB="22860" anchor="ctr">
                    <a:solidFill>
                      <a:srgbClr val="12263D"/>
                    </a:solidFill>
                  </a:tcPr>
                </a:tc>
              </a:tr>
              <a:tr h="339852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RK1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1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0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±0.1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±100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</a:tr>
              <a:tr h="339852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RK3</a:t>
                      </a:r>
                    </a:p>
                  </a:txBody>
                  <a:tcPr marL="118872" marR="91440" marT="36576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rx / 10⁶</a:t>
                      </a:r>
                    </a:p>
                  </a:txBody>
                  <a:tcPr marL="118872" marR="91440" marT="36576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0.01</a:t>
                      </a:r>
                    </a:p>
                  </a:txBody>
                  <a:tcPr marL="118872" marR="91440" marT="36576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±2</a:t>
                      </a:r>
                    </a:p>
                  </a:txBody>
                  <a:tcPr marL="118872" marR="91440" marT="36576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±1000</a:t>
                      </a:r>
                    </a:p>
                  </a:txBody>
                  <a:tcPr marL="118872" marR="91440" marT="36576" marB="22860" anchor="ctr">
                    <a:solidFill>
                      <a:srgbClr val="FFFFFF"/>
                    </a:solidFill>
                  </a:tcPr>
                </a:tc>
              </a:tr>
              <a:tr h="339852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RK5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-ry / 10⁶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0.01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±5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±1000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</a:tr>
              <a:tr h="339852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RK7</a:t>
                      </a:r>
                    </a:p>
                  </a:txBody>
                  <a:tcPr marL="118872" marR="91440" marT="36576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rx² / 10⁹</a:t>
                      </a:r>
                    </a:p>
                  </a:txBody>
                  <a:tcPr marL="118872" marR="91440" marT="36576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1</a:t>
                      </a:r>
                    </a:p>
                  </a:txBody>
                  <a:tcPr marL="118872" marR="91440" marT="36576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±0.1</a:t>
                      </a:r>
                    </a:p>
                  </a:txBody>
                  <a:tcPr marL="118872" marR="91440" marT="36576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±0.25</a:t>
                      </a:r>
                    </a:p>
                  </a:txBody>
                  <a:tcPr marL="118872" marR="91440" marT="36576" marB="22860" anchor="ctr">
                    <a:solidFill>
                      <a:srgbClr val="FFFFFF"/>
                    </a:solidFill>
                  </a:tcPr>
                </a:tc>
              </a:tr>
              <a:tr h="339852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RK9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rx·ry / 10⁹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1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±0.06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±0.06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</a:tr>
              <a:tr h="339852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RK11</a:t>
                      </a:r>
                    </a:p>
                  </a:txBody>
                  <a:tcPr marL="118872" marR="91440" marT="36576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ry² / 10⁹</a:t>
                      </a:r>
                    </a:p>
                  </a:txBody>
                  <a:tcPr marL="118872" marR="91440" marT="36576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0.1</a:t>
                      </a:r>
                    </a:p>
                  </a:txBody>
                  <a:tcPr marL="118872" marR="91440" marT="36576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±0.5</a:t>
                      </a:r>
                    </a:p>
                  </a:txBody>
                  <a:tcPr marL="118872" marR="91440" marT="36576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±10</a:t>
                      </a:r>
                    </a:p>
                  </a:txBody>
                  <a:tcPr marL="118872" marR="91440" marT="36576" marB="22860" anchor="ctr">
                    <a:solidFill>
                      <a:srgbClr val="FFFFFF"/>
                    </a:solidFill>
                  </a:tcPr>
                </a:tc>
              </a:tr>
              <a:tr h="339852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RK13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rx³ / 10¹²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1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±0.003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±0.025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</a:tr>
              <a:tr h="339852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RK15</a:t>
                      </a:r>
                    </a:p>
                  </a:txBody>
                  <a:tcPr marL="118872" marR="91440" marT="36576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rx²·ry / 10¹²</a:t>
                      </a:r>
                    </a:p>
                  </a:txBody>
                  <a:tcPr marL="118872" marR="91440" marT="36576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1</a:t>
                      </a:r>
                    </a:p>
                  </a:txBody>
                  <a:tcPr marL="118872" marR="91440" marT="36576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±0.002</a:t>
                      </a:r>
                    </a:p>
                  </a:txBody>
                  <a:tcPr marL="118872" marR="91440" marT="36576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±0.002</a:t>
                      </a:r>
                    </a:p>
                  </a:txBody>
                  <a:tcPr marL="118872" marR="91440" marT="36576" marB="22860" anchor="ctr">
                    <a:solidFill>
                      <a:srgbClr val="FFFFFF"/>
                    </a:solidFill>
                  </a:tcPr>
                </a:tc>
              </a:tr>
              <a:tr h="339852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RK17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rx·ry² / 10¹²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1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±0.005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±0.005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</a:tr>
              <a:tr h="339852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RK19</a:t>
                      </a:r>
                    </a:p>
                  </a:txBody>
                  <a:tcPr marL="118872" marR="91440" marT="36576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ry³ / 10¹²</a:t>
                      </a:r>
                    </a:p>
                  </a:txBody>
                  <a:tcPr marL="118872" marR="91440" marT="36576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0.1</a:t>
                      </a:r>
                    </a:p>
                  </a:txBody>
                  <a:tcPr marL="118872" marR="91440" marT="36576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±0.023</a:t>
                      </a:r>
                    </a:p>
                  </a:txBody>
                  <a:tcPr marL="118872" marR="91440" marT="36576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±1</a:t>
                      </a:r>
                    </a:p>
                  </a:txBody>
                  <a:tcPr marL="118872" marR="91440" marT="36576" marB="22860" anchor="ctr">
                    <a:solidFill>
                      <a:srgbClr val="FFFFFF"/>
                    </a:solidFill>
                  </a:tcPr>
                </a:tc>
              </a:tr>
              <a:tr h="339852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RK23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rx³·ry / 10¹⁹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1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±2.5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±2.5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48640" y="5961888"/>
            <a:ext cx="10972800" cy="356616"/>
          </a:xfrm>
          <a:prstGeom prst="roundRect">
            <a:avLst>
              <a:gd name="adj" fmla="val 12000"/>
            </a:avLst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5984748"/>
            <a:ext cx="10652760" cy="28346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150" b="0">
                <a:solidFill>
                  <a:srgbClr val="D88325"/>
                </a:solidFill>
                <a:latin typeface="Noto Sans CJK KR"/>
              </a:defRPr>
            </a:pPr>
            <a:r>
              <a:rPr>
                <a:ea typeface="Noto Sans CJK KR"/>
              </a:rPr>
              <a:t>± 표기는 preset의 대칭 min/max입니다. 실제 위반 검사는 contribution span과 max + 0.01을 비교합니다.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D8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060704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000" b="1">
                <a:solidFill>
                  <a:srgbClr val="0D8F9F"/>
                </a:solidFill>
                <a:latin typeface="Noto Sans CJK KR"/>
              </a:defRPr>
            </a:pPr>
            <a:r>
              <a:rPr>
                <a:ea typeface="Noto Sans CJK KR"/>
              </a:rPr>
              <a:t>APPENDIX / FULL COEFFICIENT REFERENCE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52120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2800" b="1">
                <a:solidFill>
                  <a:srgbClr val="12263D"/>
                </a:solidFill>
                <a:latin typeface="Noto Sans CJK KR"/>
              </a:defRPr>
            </a:pPr>
            <a:r>
              <a:rPr>
                <a:ea typeface="Noto Sans CJK KR"/>
              </a:rPr>
              <a:t>X 방향 RK 대응표 2/2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243584"/>
            <a:ext cx="11018520" cy="3474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200" b="0">
                <a:solidFill>
                  <a:srgbClr val="63798D"/>
                </a:solidFill>
                <a:latin typeface="Noto Sans CJK KR"/>
              </a:defRPr>
            </a:pPr>
            <a:r>
              <a:rPr>
                <a:ea typeface="Noto Sans CJK KR"/>
              </a:rPr>
              <a:t>행렬 열 순서 12–21 / X 방향 총 21개 항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6473952"/>
            <a:ext cx="11018520" cy="10972"/>
          </a:xfrm>
          <a:prstGeom prst="rect">
            <a:avLst/>
          </a:prstGeom>
          <a:solidFill>
            <a:srgbClr val="D8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7" y="6547104"/>
            <a:ext cx="1065276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850" b="0">
                <a:solidFill>
                  <a:srgbClr val="63798D"/>
                </a:solidFill>
                <a:latin typeface="Noto Sans CJK KR"/>
              </a:defRPr>
            </a:pPr>
            <a:r>
              <a:rPr>
                <a:ea typeface="Noto Sans CJK KR"/>
              </a:rPr>
              <a:t>MERGE/013.py · L52–191, L223–239   |   source 00568f2 · 2026.10.13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37960"/>
            <a:ext cx="393192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5000"/>
              </a:lnSpc>
              <a:spcAft>
                <a:spcPts val="500"/>
              </a:spcAft>
              <a:defRPr sz="1000" b="1">
                <a:solidFill>
                  <a:srgbClr val="0D8F9F"/>
                </a:solidFill>
                <a:latin typeface="Noto Sans CJK KR"/>
              </a:defRPr>
            </a:pPr>
            <a:r>
              <a:rPr>
                <a:ea typeface="Noto Sans CJK KR"/>
              </a:rPr>
              <a:t>31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773936"/>
          <a:ext cx="10972800" cy="40782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2688"/>
                <a:gridCol w="4443984"/>
                <a:gridCol w="1005840"/>
                <a:gridCol w="2286000"/>
                <a:gridCol w="2304288"/>
              </a:tblGrid>
              <a:tr h="370747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50" b="1">
                          <a:solidFill>
                            <a:srgbClr val="FFFFFF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RK</a:t>
                      </a:r>
                    </a:p>
                  </a:txBody>
                  <a:tcPr marL="118872" marR="91440" marT="36576" marB="22860" anchor="ctr">
                    <a:solidFill>
                      <a:srgbClr val="1226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50" b="1">
                          <a:solidFill>
                            <a:srgbClr val="FFFFFF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실제 기저항</a:t>
                      </a:r>
                    </a:p>
                  </a:txBody>
                  <a:tcPr marL="118872" marR="91440" marT="36576" marB="22860" anchor="ctr">
                    <a:solidFill>
                      <a:srgbClr val="1226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50" b="1">
                          <a:solidFill>
                            <a:srgbClr val="FFFFFF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valve</a:t>
                      </a:r>
                    </a:p>
                  </a:txBody>
                  <a:tcPr marL="118872" marR="91440" marT="36576" marB="22860" anchor="ctr">
                    <a:solidFill>
                      <a:srgbClr val="1226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50" b="1">
                          <a:solidFill>
                            <a:srgbClr val="FFFFFF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F2F min/max</a:t>
                      </a:r>
                    </a:p>
                  </a:txBody>
                  <a:tcPr marL="118872" marR="91440" marT="36576" marB="22860" anchor="ctr">
                    <a:solidFill>
                      <a:srgbClr val="1226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50" b="1">
                          <a:solidFill>
                            <a:srgbClr val="FFFFFF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HARD min/max</a:t>
                      </a:r>
                    </a:p>
                  </a:txBody>
                  <a:tcPr marL="118872" marR="91440" marT="36576" marB="22860" anchor="ctr">
                    <a:solidFill>
                      <a:srgbClr val="12263D"/>
                    </a:solidFill>
                  </a:tcPr>
                </a:tc>
              </a:tr>
              <a:tr h="370747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RK25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rx²·ry² / 10¹⁹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1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±8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±8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</a:tr>
              <a:tr h="370747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RK27</a:t>
                      </a:r>
                    </a:p>
                  </a:txBody>
                  <a:tcPr marL="118872" marR="91440" marT="36576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rx·ry³ / 10¹⁹</a:t>
                      </a:r>
                    </a:p>
                  </a:txBody>
                  <a:tcPr marL="118872" marR="91440" marT="36576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1</a:t>
                      </a:r>
                    </a:p>
                  </a:txBody>
                  <a:tcPr marL="118872" marR="91440" marT="36576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±7</a:t>
                      </a:r>
                    </a:p>
                  </a:txBody>
                  <a:tcPr marL="118872" marR="91440" marT="36576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±7</a:t>
                      </a:r>
                    </a:p>
                  </a:txBody>
                  <a:tcPr marL="118872" marR="91440" marT="36576" marB="22860" anchor="ctr">
                    <a:solidFill>
                      <a:srgbClr val="FFFFFF"/>
                    </a:solidFill>
                  </a:tcPr>
                </a:tc>
              </a:tr>
              <a:tr h="370747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RK29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ry⁴ / 10¹⁹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1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±7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±7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</a:tr>
              <a:tr h="370747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RK35</a:t>
                      </a:r>
                    </a:p>
                  </a:txBody>
                  <a:tcPr marL="118872" marR="91440" marT="36576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rx³·ry² / 10²³</a:t>
                      </a:r>
                    </a:p>
                  </a:txBody>
                  <a:tcPr marL="118872" marR="91440" marT="36576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1</a:t>
                      </a:r>
                    </a:p>
                  </a:txBody>
                  <a:tcPr marL="118872" marR="91440" marT="36576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±2</a:t>
                      </a:r>
                    </a:p>
                  </a:txBody>
                  <a:tcPr marL="118872" marR="91440" marT="36576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±2</a:t>
                      </a:r>
                    </a:p>
                  </a:txBody>
                  <a:tcPr marL="118872" marR="91440" marT="36576" marB="22860" anchor="ctr">
                    <a:solidFill>
                      <a:srgbClr val="FFFFFF"/>
                    </a:solidFill>
                  </a:tcPr>
                </a:tc>
              </a:tr>
              <a:tr h="370747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RK37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rx²·ry³ / 10²³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1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±2.5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±2.5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</a:tr>
              <a:tr h="370747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RK39</a:t>
                      </a:r>
                    </a:p>
                  </a:txBody>
                  <a:tcPr marL="118872" marR="91440" marT="36576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rx·ry⁴ / 10²³</a:t>
                      </a:r>
                    </a:p>
                  </a:txBody>
                  <a:tcPr marL="118872" marR="91440" marT="36576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1</a:t>
                      </a:r>
                    </a:p>
                  </a:txBody>
                  <a:tcPr marL="118872" marR="91440" marT="36576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±4</a:t>
                      </a:r>
                    </a:p>
                  </a:txBody>
                  <a:tcPr marL="118872" marR="91440" marT="36576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±4</a:t>
                      </a:r>
                    </a:p>
                  </a:txBody>
                  <a:tcPr marL="118872" marR="91440" marT="36576" marB="22860" anchor="ctr">
                    <a:solidFill>
                      <a:srgbClr val="FFFFFF"/>
                    </a:solidFill>
                  </a:tcPr>
                </a:tc>
              </a:tr>
              <a:tr h="370747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RK41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ry⁵ / 10²³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1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±2.5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±2.5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</a:tr>
              <a:tr h="370747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RK49</a:t>
                      </a:r>
                    </a:p>
                  </a:txBody>
                  <a:tcPr marL="118872" marR="91440" marT="36576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rx³·ry³ / 10²⁷</a:t>
                      </a:r>
                    </a:p>
                  </a:txBody>
                  <a:tcPr marL="118872" marR="91440" marT="36576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1</a:t>
                      </a:r>
                    </a:p>
                  </a:txBody>
                  <a:tcPr marL="118872" marR="91440" marT="36576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±0.8</a:t>
                      </a:r>
                    </a:p>
                  </a:txBody>
                  <a:tcPr marL="118872" marR="91440" marT="36576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±0.8</a:t>
                      </a:r>
                    </a:p>
                  </a:txBody>
                  <a:tcPr marL="118872" marR="91440" marT="36576" marB="22860" anchor="ctr">
                    <a:solidFill>
                      <a:srgbClr val="FFFFFF"/>
                    </a:solidFill>
                  </a:tcPr>
                </a:tc>
              </a:tr>
              <a:tr h="370747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RK51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rx²·ry⁴ / 10²⁷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1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±1.2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±1.2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</a:tr>
              <a:tr h="370754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RK65</a:t>
                      </a:r>
                    </a:p>
                  </a:txBody>
                  <a:tcPr marL="118872" marR="91440" marT="36576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rx³·ry⁴ / 10³¹</a:t>
                      </a:r>
                    </a:p>
                  </a:txBody>
                  <a:tcPr marL="118872" marR="91440" marT="36576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1</a:t>
                      </a:r>
                    </a:p>
                  </a:txBody>
                  <a:tcPr marL="118872" marR="91440" marT="36576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±0.7</a:t>
                      </a:r>
                    </a:p>
                  </a:txBody>
                  <a:tcPr marL="118872" marR="91440" marT="36576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±0.7</a:t>
                      </a:r>
                    </a:p>
                  </a:txBody>
                  <a:tcPr marL="118872" marR="91440" marT="36576" marB="2286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48640" y="5961888"/>
            <a:ext cx="10972800" cy="356616"/>
          </a:xfrm>
          <a:prstGeom prst="roundRect">
            <a:avLst>
              <a:gd name="adj" fmla="val 12000"/>
            </a:avLst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5984748"/>
            <a:ext cx="10652760" cy="28346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150" b="0">
                <a:solidFill>
                  <a:srgbClr val="D88325"/>
                </a:solidFill>
                <a:latin typeface="Noto Sans CJK KR"/>
              </a:defRPr>
            </a:pPr>
            <a:r>
              <a:rPr>
                <a:ea typeface="Noto Sans CJK KR"/>
              </a:rPr>
              <a:t>± 표기는 preset의 대칭 min/max입니다. 실제 위반 검사는 contribution span과 max + 0.01을 비교합니다.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D8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060704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000" b="1">
                <a:solidFill>
                  <a:srgbClr val="0D8F9F"/>
                </a:solidFill>
                <a:latin typeface="Noto Sans CJK KR"/>
              </a:defRPr>
            </a:pPr>
            <a:r>
              <a:rPr>
                <a:ea typeface="Noto Sans CJK KR"/>
              </a:rPr>
              <a:t>APPENDIX / FULL COEFFICIENT REFERENCE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52120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2800" b="1">
                <a:solidFill>
                  <a:srgbClr val="12263D"/>
                </a:solidFill>
                <a:latin typeface="Noto Sans CJK KR"/>
              </a:defRPr>
            </a:pPr>
            <a:r>
              <a:rPr>
                <a:ea typeface="Noto Sans CJK KR"/>
              </a:rPr>
              <a:t>Y 방향 RK 대응표 1/2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243584"/>
            <a:ext cx="11018520" cy="3474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200" b="0">
                <a:solidFill>
                  <a:srgbClr val="63798D"/>
                </a:solidFill>
                <a:latin typeface="Noto Sans CJK KR"/>
              </a:defRPr>
            </a:pPr>
            <a:r>
              <a:rPr>
                <a:ea typeface="Noto Sans CJK KR"/>
              </a:rPr>
              <a:t>행렬 열 순서 1–9 / Y 방향 총 17개 항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6473952"/>
            <a:ext cx="11018520" cy="10972"/>
          </a:xfrm>
          <a:prstGeom prst="rect">
            <a:avLst/>
          </a:prstGeom>
          <a:solidFill>
            <a:srgbClr val="D8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7" y="6547104"/>
            <a:ext cx="1065276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850" b="0">
                <a:solidFill>
                  <a:srgbClr val="63798D"/>
                </a:solidFill>
                <a:latin typeface="Noto Sans CJK KR"/>
              </a:defRPr>
            </a:pPr>
            <a:r>
              <a:rPr>
                <a:ea typeface="Noto Sans CJK KR"/>
              </a:rPr>
              <a:t>MERGE/013.py · L52–191, L223–239   |   source 00568f2 · 2026.10.13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37960"/>
            <a:ext cx="393192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5000"/>
              </a:lnSpc>
              <a:spcAft>
                <a:spcPts val="500"/>
              </a:spcAft>
              <a:defRPr sz="1000" b="1">
                <a:solidFill>
                  <a:srgbClr val="0D8F9F"/>
                </a:solidFill>
                <a:latin typeface="Noto Sans CJK KR"/>
              </a:defRPr>
            </a:pPr>
            <a:r>
              <a:rPr>
                <a:ea typeface="Noto Sans CJK KR"/>
              </a:rPr>
              <a:t>32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773936"/>
          <a:ext cx="10972800" cy="40782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2688"/>
                <a:gridCol w="4443984"/>
                <a:gridCol w="1005840"/>
                <a:gridCol w="2286000"/>
                <a:gridCol w="2304288"/>
              </a:tblGrid>
              <a:tr h="407822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50" b="1">
                          <a:solidFill>
                            <a:srgbClr val="FFFFFF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RK</a:t>
                      </a:r>
                    </a:p>
                  </a:txBody>
                  <a:tcPr marL="118872" marR="91440" marT="36576" marB="22860" anchor="ctr">
                    <a:solidFill>
                      <a:srgbClr val="1226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50" b="1">
                          <a:solidFill>
                            <a:srgbClr val="FFFFFF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실제 기저항</a:t>
                      </a:r>
                    </a:p>
                  </a:txBody>
                  <a:tcPr marL="118872" marR="91440" marT="36576" marB="22860" anchor="ctr">
                    <a:solidFill>
                      <a:srgbClr val="1226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50" b="1">
                          <a:solidFill>
                            <a:srgbClr val="FFFFFF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valve</a:t>
                      </a:r>
                    </a:p>
                  </a:txBody>
                  <a:tcPr marL="118872" marR="91440" marT="36576" marB="22860" anchor="ctr">
                    <a:solidFill>
                      <a:srgbClr val="1226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50" b="1">
                          <a:solidFill>
                            <a:srgbClr val="FFFFFF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F2F min/max</a:t>
                      </a:r>
                    </a:p>
                  </a:txBody>
                  <a:tcPr marL="118872" marR="91440" marT="36576" marB="22860" anchor="ctr">
                    <a:solidFill>
                      <a:srgbClr val="1226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50" b="1">
                          <a:solidFill>
                            <a:srgbClr val="FFFFFF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HARD min/max</a:t>
                      </a:r>
                    </a:p>
                  </a:txBody>
                  <a:tcPr marL="118872" marR="91440" marT="36576" marB="22860" anchor="ctr">
                    <a:solidFill>
                      <a:srgbClr val="12263D"/>
                    </a:solidFill>
                  </a:tcPr>
                </a:tc>
              </a:tr>
              <a:tr h="407822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RK2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1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0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±0.1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±100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</a:tr>
              <a:tr h="407822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RK4</a:t>
                      </a:r>
                    </a:p>
                  </a:txBody>
                  <a:tcPr marL="118872" marR="91440" marT="36576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ry / 10⁶</a:t>
                      </a:r>
                    </a:p>
                  </a:txBody>
                  <a:tcPr marL="118872" marR="91440" marT="36576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0.01</a:t>
                      </a:r>
                    </a:p>
                  </a:txBody>
                  <a:tcPr marL="118872" marR="91440" marT="36576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±10</a:t>
                      </a:r>
                    </a:p>
                  </a:txBody>
                  <a:tcPr marL="118872" marR="91440" marT="36576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±1000</a:t>
                      </a:r>
                    </a:p>
                  </a:txBody>
                  <a:tcPr marL="118872" marR="91440" marT="36576" marB="22860" anchor="ctr">
                    <a:solidFill>
                      <a:srgbClr val="FFFFFF"/>
                    </a:solidFill>
                  </a:tcPr>
                </a:tc>
              </a:tr>
              <a:tr h="407822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RK6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rx / 10⁶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0.01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±5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±1000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</a:tr>
              <a:tr h="407822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RK8</a:t>
                      </a:r>
                    </a:p>
                  </a:txBody>
                  <a:tcPr marL="118872" marR="91440" marT="36576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ry² / 10⁹</a:t>
                      </a:r>
                    </a:p>
                  </a:txBody>
                  <a:tcPr marL="118872" marR="91440" marT="36576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0.1</a:t>
                      </a:r>
                    </a:p>
                  </a:txBody>
                  <a:tcPr marL="118872" marR="91440" marT="36576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±0.15</a:t>
                      </a:r>
                    </a:p>
                  </a:txBody>
                  <a:tcPr marL="118872" marR="91440" marT="36576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±10</a:t>
                      </a:r>
                    </a:p>
                  </a:txBody>
                  <a:tcPr marL="118872" marR="91440" marT="36576" marB="22860" anchor="ctr">
                    <a:solidFill>
                      <a:srgbClr val="FFFFFF"/>
                    </a:solidFill>
                  </a:tcPr>
                </a:tc>
              </a:tr>
              <a:tr h="407822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RK10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ry·rx / 10⁹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0.1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±0.5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±10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</a:tr>
              <a:tr h="407822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RK12</a:t>
                      </a:r>
                    </a:p>
                  </a:txBody>
                  <a:tcPr marL="118872" marR="91440" marT="36576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rx² / 10⁹</a:t>
                      </a:r>
                    </a:p>
                  </a:txBody>
                  <a:tcPr marL="118872" marR="91440" marT="36576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1</a:t>
                      </a:r>
                    </a:p>
                  </a:txBody>
                  <a:tcPr marL="118872" marR="91440" marT="36576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±0.03</a:t>
                      </a:r>
                    </a:p>
                  </a:txBody>
                  <a:tcPr marL="118872" marR="91440" marT="36576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±0.25</a:t>
                      </a:r>
                    </a:p>
                  </a:txBody>
                  <a:tcPr marL="118872" marR="91440" marT="36576" marB="22860" anchor="ctr">
                    <a:solidFill>
                      <a:srgbClr val="FFFFFF"/>
                    </a:solidFill>
                  </a:tcPr>
                </a:tc>
              </a:tr>
              <a:tr h="407822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RK14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ry³ / 10¹²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0.1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±0.015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±1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</a:tr>
              <a:tr h="407822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RK16</a:t>
                      </a:r>
                    </a:p>
                  </a:txBody>
                  <a:tcPr marL="118872" marR="91440" marT="36576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ry²·rx / 10¹²</a:t>
                      </a:r>
                    </a:p>
                  </a:txBody>
                  <a:tcPr marL="118872" marR="91440" marT="36576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0.1</a:t>
                      </a:r>
                    </a:p>
                  </a:txBody>
                  <a:tcPr marL="118872" marR="91440" marT="36576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±0.05</a:t>
                      </a:r>
                    </a:p>
                  </a:txBody>
                  <a:tcPr marL="118872" marR="91440" marT="36576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±1</a:t>
                      </a:r>
                    </a:p>
                  </a:txBody>
                  <a:tcPr marL="118872" marR="91440" marT="36576" marB="22860" anchor="ctr">
                    <a:solidFill>
                      <a:srgbClr val="FFFFFF"/>
                    </a:solidFill>
                  </a:tcPr>
                </a:tc>
              </a:tr>
              <a:tr h="407826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RK18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ry·rx² / 10¹²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1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±0.002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±0.002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48640" y="5961888"/>
            <a:ext cx="10972800" cy="356616"/>
          </a:xfrm>
          <a:prstGeom prst="roundRect">
            <a:avLst>
              <a:gd name="adj" fmla="val 12000"/>
            </a:avLst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5984748"/>
            <a:ext cx="10652760" cy="28346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150" b="0">
                <a:solidFill>
                  <a:srgbClr val="D88325"/>
                </a:solidFill>
                <a:latin typeface="Noto Sans CJK KR"/>
              </a:defRPr>
            </a:pPr>
            <a:r>
              <a:rPr>
                <a:ea typeface="Noto Sans CJK KR"/>
              </a:rPr>
              <a:t>± 표기는 preset의 대칭 min/max입니다. 실제 위반 검사는 contribution span과 max + 0.01을 비교합니다.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D8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060704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000" b="1">
                <a:solidFill>
                  <a:srgbClr val="0D8F9F"/>
                </a:solidFill>
                <a:latin typeface="Noto Sans CJK KR"/>
              </a:defRPr>
            </a:pPr>
            <a:r>
              <a:rPr>
                <a:ea typeface="Noto Sans CJK KR"/>
              </a:rPr>
              <a:t>APPENDIX / FULL COEFFICIENT REFERENCE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52120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2800" b="1">
                <a:solidFill>
                  <a:srgbClr val="12263D"/>
                </a:solidFill>
                <a:latin typeface="Noto Sans CJK KR"/>
              </a:defRPr>
            </a:pPr>
            <a:r>
              <a:rPr>
                <a:ea typeface="Noto Sans CJK KR"/>
              </a:rPr>
              <a:t>Y 방향 RK 대응표 2/2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243584"/>
            <a:ext cx="11018520" cy="3474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200" b="0">
                <a:solidFill>
                  <a:srgbClr val="63798D"/>
                </a:solidFill>
                <a:latin typeface="Noto Sans CJK KR"/>
              </a:defRPr>
            </a:pPr>
            <a:r>
              <a:rPr>
                <a:ea typeface="Noto Sans CJK KR"/>
              </a:rPr>
              <a:t>행렬 열 순서 10–17 / Y 방향 총 17개 항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6473952"/>
            <a:ext cx="11018520" cy="10972"/>
          </a:xfrm>
          <a:prstGeom prst="rect">
            <a:avLst/>
          </a:prstGeom>
          <a:solidFill>
            <a:srgbClr val="D8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7" y="6547104"/>
            <a:ext cx="1065276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850" b="0">
                <a:solidFill>
                  <a:srgbClr val="63798D"/>
                </a:solidFill>
                <a:latin typeface="Noto Sans CJK KR"/>
              </a:defRPr>
            </a:pPr>
            <a:r>
              <a:rPr>
                <a:ea typeface="Noto Sans CJK KR"/>
              </a:rPr>
              <a:t>MERGE/013.py · L52–191, L223–239   |   source 00568f2 · 2026.10.13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37960"/>
            <a:ext cx="393192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5000"/>
              </a:lnSpc>
              <a:spcAft>
                <a:spcPts val="500"/>
              </a:spcAft>
              <a:defRPr sz="1000" b="1">
                <a:solidFill>
                  <a:srgbClr val="0D8F9F"/>
                </a:solidFill>
                <a:latin typeface="Noto Sans CJK KR"/>
              </a:defRPr>
            </a:pPr>
            <a:r>
              <a:rPr>
                <a:ea typeface="Noto Sans CJK KR"/>
              </a:rPr>
              <a:t>33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773936"/>
          <a:ext cx="10972800" cy="40782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2688"/>
                <a:gridCol w="4443984"/>
                <a:gridCol w="1005840"/>
                <a:gridCol w="2286000"/>
                <a:gridCol w="2304288"/>
              </a:tblGrid>
              <a:tr h="453136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50" b="1">
                          <a:solidFill>
                            <a:srgbClr val="FFFFFF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RK</a:t>
                      </a:r>
                    </a:p>
                  </a:txBody>
                  <a:tcPr marL="118872" marR="91440" marT="36576" marB="22860" anchor="ctr">
                    <a:solidFill>
                      <a:srgbClr val="1226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50" b="1">
                          <a:solidFill>
                            <a:srgbClr val="FFFFFF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실제 기저항</a:t>
                      </a:r>
                    </a:p>
                  </a:txBody>
                  <a:tcPr marL="118872" marR="91440" marT="36576" marB="22860" anchor="ctr">
                    <a:solidFill>
                      <a:srgbClr val="1226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50" b="1">
                          <a:solidFill>
                            <a:srgbClr val="FFFFFF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valve</a:t>
                      </a:r>
                    </a:p>
                  </a:txBody>
                  <a:tcPr marL="118872" marR="91440" marT="36576" marB="22860" anchor="ctr">
                    <a:solidFill>
                      <a:srgbClr val="1226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50" b="1">
                          <a:solidFill>
                            <a:srgbClr val="FFFFFF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F2F min/max</a:t>
                      </a:r>
                    </a:p>
                  </a:txBody>
                  <a:tcPr marL="118872" marR="91440" marT="36576" marB="22860" anchor="ctr">
                    <a:solidFill>
                      <a:srgbClr val="1226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50" b="1">
                          <a:solidFill>
                            <a:srgbClr val="FFFFFF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HARD min/max</a:t>
                      </a:r>
                    </a:p>
                  </a:txBody>
                  <a:tcPr marL="118872" marR="91440" marT="36576" marB="22860" anchor="ctr">
                    <a:solidFill>
                      <a:srgbClr val="12263D"/>
                    </a:solidFill>
                  </a:tcPr>
                </a:tc>
              </a:tr>
              <a:tr h="453136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RK22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ry⁴ / 10¹⁹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1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±7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±7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</a:tr>
              <a:tr h="453136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RK24</a:t>
                      </a:r>
                    </a:p>
                  </a:txBody>
                  <a:tcPr marL="118872" marR="91440" marT="36576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ry³·rx / 10¹⁹</a:t>
                      </a:r>
                    </a:p>
                  </a:txBody>
                  <a:tcPr marL="118872" marR="91440" marT="36576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1</a:t>
                      </a:r>
                    </a:p>
                  </a:txBody>
                  <a:tcPr marL="118872" marR="91440" marT="36576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±18</a:t>
                      </a:r>
                    </a:p>
                  </a:txBody>
                  <a:tcPr marL="118872" marR="91440" marT="36576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±18</a:t>
                      </a:r>
                    </a:p>
                  </a:txBody>
                  <a:tcPr marL="118872" marR="91440" marT="36576" marB="22860" anchor="ctr">
                    <a:solidFill>
                      <a:srgbClr val="FFFFFF"/>
                    </a:solidFill>
                  </a:tcPr>
                </a:tc>
              </a:tr>
              <a:tr h="453136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RK26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ry²·rx² / 10¹⁹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1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±4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±4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</a:tr>
              <a:tr h="453136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RK32</a:t>
                      </a:r>
                    </a:p>
                  </a:txBody>
                  <a:tcPr marL="118872" marR="91440" marT="36576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ry⁵ / 10²³</a:t>
                      </a:r>
                    </a:p>
                  </a:txBody>
                  <a:tcPr marL="118872" marR="91440" marT="36576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1</a:t>
                      </a:r>
                    </a:p>
                  </a:txBody>
                  <a:tcPr marL="118872" marR="91440" marT="36576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±2.5</a:t>
                      </a:r>
                    </a:p>
                  </a:txBody>
                  <a:tcPr marL="118872" marR="91440" marT="36576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±2.5</a:t>
                      </a:r>
                    </a:p>
                  </a:txBody>
                  <a:tcPr marL="118872" marR="91440" marT="36576" marB="22860" anchor="ctr">
                    <a:solidFill>
                      <a:srgbClr val="FFFFFF"/>
                    </a:solidFill>
                  </a:tcPr>
                </a:tc>
              </a:tr>
              <a:tr h="453136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RK34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ry⁴·rx / 10²³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1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±5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±5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</a:tr>
              <a:tr h="453136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RK36</a:t>
                      </a:r>
                    </a:p>
                  </a:txBody>
                  <a:tcPr marL="118872" marR="91440" marT="36576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ry³·rx² / 10²³</a:t>
                      </a:r>
                    </a:p>
                  </a:txBody>
                  <a:tcPr marL="118872" marR="91440" marT="36576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1</a:t>
                      </a:r>
                    </a:p>
                  </a:txBody>
                  <a:tcPr marL="118872" marR="91440" marT="36576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±1.2</a:t>
                      </a:r>
                    </a:p>
                  </a:txBody>
                  <a:tcPr marL="118872" marR="91440" marT="36576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±1.2</a:t>
                      </a:r>
                    </a:p>
                  </a:txBody>
                  <a:tcPr marL="118872" marR="91440" marT="36576" marB="22860" anchor="ctr">
                    <a:solidFill>
                      <a:srgbClr val="FFFFFF"/>
                    </a:solidFill>
                  </a:tcPr>
                </a:tc>
              </a:tr>
              <a:tr h="453136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RK46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ry⁵·rx / 10²⁷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1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±1.2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±1.2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</a:tr>
              <a:tr h="453136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RK48</a:t>
                      </a:r>
                    </a:p>
                  </a:txBody>
                  <a:tcPr marL="118872" marR="91440" marT="36576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ry⁴·rx² / 10²⁷</a:t>
                      </a:r>
                    </a:p>
                  </a:txBody>
                  <a:tcPr marL="118872" marR="91440" marT="36576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1</a:t>
                      </a:r>
                    </a:p>
                  </a:txBody>
                  <a:tcPr marL="118872" marR="91440" marT="36576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±0.6</a:t>
                      </a:r>
                    </a:p>
                  </a:txBody>
                  <a:tcPr marL="118872" marR="91440" marT="36576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55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±0.6</a:t>
                      </a:r>
                    </a:p>
                  </a:txBody>
                  <a:tcPr marL="118872" marR="91440" marT="36576" marB="2286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48640" y="5961888"/>
            <a:ext cx="10972800" cy="356616"/>
          </a:xfrm>
          <a:prstGeom prst="roundRect">
            <a:avLst>
              <a:gd name="adj" fmla="val 12000"/>
            </a:avLst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5984748"/>
            <a:ext cx="10652760" cy="28346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150" b="0">
                <a:solidFill>
                  <a:srgbClr val="D88325"/>
                </a:solidFill>
                <a:latin typeface="Noto Sans CJK KR"/>
              </a:defRPr>
            </a:pPr>
            <a:r>
              <a:rPr>
                <a:ea typeface="Noto Sans CJK KR"/>
              </a:rPr>
              <a:t>± 표기는 preset의 대칭 min/max입니다. 실제 위반 검사는 contribution span과 max + 0.01을 비교합니다.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D8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060704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000" b="1">
                <a:solidFill>
                  <a:srgbClr val="0D8F9F"/>
                </a:solidFill>
                <a:latin typeface="Noto Sans CJK KR"/>
              </a:defRPr>
            </a:pPr>
            <a:r>
              <a:rPr>
                <a:ea typeface="Noto Sans CJK KR"/>
              </a:rPr>
              <a:t>APPENDIX / FORMULA DETAIL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52120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2800" b="1">
                <a:solidFill>
                  <a:srgbClr val="12263D"/>
                </a:solidFill>
                <a:latin typeface="Noto Sans CJK KR"/>
              </a:defRPr>
            </a:pPr>
            <a:r>
              <a:rPr>
                <a:ea typeface="Noto Sans CJK KR"/>
              </a:rPr>
              <a:t>Type 1과 Type 3는 Ridge에서 같은 지표가 아니다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243584"/>
            <a:ext cx="11018520" cy="3474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200" b="0">
                <a:solidFill>
                  <a:srgbClr val="63798D"/>
                </a:solidFill>
                <a:latin typeface="Noto Sans CJK KR"/>
              </a:defRPr>
            </a:pPr>
            <a:r>
              <a:rPr>
                <a:ea typeface="Noto Sans CJK KR"/>
              </a:rPr>
              <a:t>OLS에서의 정보행렬 해석을 λ&gt;0인 회귀에 그대로 적용하면 차이가 생깁니다.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6473952"/>
            <a:ext cx="11018520" cy="10972"/>
          </a:xfrm>
          <a:prstGeom prst="rect">
            <a:avLst/>
          </a:prstGeom>
          <a:solidFill>
            <a:srgbClr val="D8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7" y="6547104"/>
            <a:ext cx="1065276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850" b="0">
                <a:solidFill>
                  <a:srgbClr val="63798D"/>
                </a:solidFill>
                <a:latin typeface="Noto Sans CJK KR"/>
              </a:defRPr>
            </a:pPr>
            <a:r>
              <a:rPr>
                <a:ea typeface="Noto Sans CJK KR"/>
              </a:rPr>
              <a:t>MERGE/013.py · L429–451   |   source 00568f2 · 2026.10.13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37960"/>
            <a:ext cx="393192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5000"/>
              </a:lnSpc>
              <a:spcAft>
                <a:spcPts val="500"/>
              </a:spcAft>
              <a:defRPr sz="1000" b="1">
                <a:solidFill>
                  <a:srgbClr val="0D8F9F"/>
                </a:solidFill>
                <a:latin typeface="Noto Sans CJK KR"/>
              </a:defRPr>
            </a:pPr>
            <a:r>
              <a:rPr>
                <a:ea typeface="Noto Sans CJK KR"/>
              </a:rPr>
              <a:t>34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10512"/>
            <a:ext cx="10972800" cy="1609344"/>
          </a:xfrm>
          <a:prstGeom prst="roundRect">
            <a:avLst>
              <a:gd name="adj" fmla="val 12000"/>
            </a:avLst>
          </a:prstGeom>
          <a:solidFill>
            <a:srgbClr val="12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993392"/>
            <a:ext cx="10332720" cy="10972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2400" b="1">
                <a:solidFill>
                  <a:srgbClr val="FFFFFF"/>
                </a:solidFill>
                <a:latin typeface="Noto Sans CJK KR"/>
              </a:defRPr>
            </a:pPr>
            <a:r>
              <a:rPr>
                <a:ea typeface="Noto Sans CJK KR"/>
              </a:rPr>
              <a:t>Type 1²: diag(E A⁻¹ XᵀX A⁻¹ Eᵀ)의 최대값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2400" b="1">
                <a:solidFill>
                  <a:srgbClr val="FFFFFF"/>
                </a:solidFill>
                <a:latin typeface="Noto Sans CJK KR"/>
              </a:defRPr>
            </a:pPr>
            <a:r>
              <a:rPr>
                <a:ea typeface="Noto Sans CJK KR"/>
              </a:rPr>
              <a:t>Type 3²: diag(E A⁻¹ Eᵀ)의 최대값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2400" b="1">
                <a:solidFill>
                  <a:srgbClr val="FFFFFF"/>
                </a:solidFill>
                <a:latin typeface="Noto Sans CJK KR"/>
              </a:defRPr>
            </a:pPr>
            <a:r>
              <a:rPr>
                <a:ea typeface="Noto Sans CJK KR"/>
              </a:rPr>
              <a:t>A = XᵀX + diag(λ)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758184"/>
            <a:ext cx="5321808" cy="1792224"/>
          </a:xfrm>
          <a:prstGeom prst="roundRect">
            <a:avLst>
              <a:gd name="adj" fmla="val 12000"/>
            </a:avLst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3758184"/>
            <a:ext cx="50292" cy="1792224"/>
          </a:xfrm>
          <a:prstGeom prst="rect">
            <a:avLst/>
          </a:prstGeom>
          <a:solidFill>
            <a:srgbClr val="0D8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913632"/>
            <a:ext cx="4956048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900" b="1">
                <a:solidFill>
                  <a:srgbClr val="0D8F9F"/>
                </a:solidFill>
                <a:latin typeface="Noto Sans CJK KR"/>
              </a:defRPr>
            </a:pPr>
            <a:r>
              <a:rPr>
                <a:ea typeface="Noto Sans CJK KR"/>
              </a:rPr>
              <a:t>Type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434840"/>
            <a:ext cx="4956048" cy="1033271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800" b="0">
                <a:solidFill>
                  <a:srgbClr val="22384D"/>
                </a:solidFill>
                <a:latin typeface="Noto Sans CJK KR"/>
              </a:defRPr>
            </a:pPr>
            <a:r>
              <a:rPr>
                <a:ea typeface="Noto Sans CJK KR"/>
              </a:rPr>
              <a:t>측정 noise를 prediction에 전달하는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800" b="0">
                <a:solidFill>
                  <a:srgbClr val="22384D"/>
                </a:solidFill>
                <a:latin typeface="Noto Sans CJK KR"/>
              </a:defRPr>
            </a:pPr>
            <a:r>
              <a:rPr>
                <a:ea typeface="Noto Sans CJK KR"/>
              </a:rPr>
              <a:t>H의 row norm으로 계산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3758184"/>
            <a:ext cx="5394960" cy="1792224"/>
          </a:xfrm>
          <a:prstGeom prst="roundRect">
            <a:avLst>
              <a:gd name="adj" fmla="val 12000"/>
            </a:avLst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26480" y="3758184"/>
            <a:ext cx="50292" cy="1792224"/>
          </a:xfrm>
          <a:prstGeom prst="rect">
            <a:avLst/>
          </a:prstGeom>
          <a:solidFill>
            <a:srgbClr val="D88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3913632"/>
            <a:ext cx="50292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900" b="1">
                <a:solidFill>
                  <a:srgbClr val="D88325"/>
                </a:solidFill>
                <a:latin typeface="Noto Sans CJK KR"/>
              </a:defRPr>
            </a:pPr>
            <a:r>
              <a:rPr>
                <a:ea typeface="Noto Sans CJK KR"/>
              </a:rPr>
              <a:t>Type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4434840"/>
            <a:ext cx="5029200" cy="1033271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800" b="0">
                <a:solidFill>
                  <a:srgbClr val="22384D"/>
                </a:solidFill>
                <a:latin typeface="Noto Sans CJK KR"/>
              </a:defRPr>
            </a:pPr>
            <a:r>
              <a:rPr>
                <a:ea typeface="Noto Sans CJK KR"/>
              </a:rPr>
              <a:t>regularized information inverse를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800" b="0">
                <a:solidFill>
                  <a:srgbClr val="22384D"/>
                </a:solidFill>
                <a:latin typeface="Noto Sans CJK KR"/>
              </a:defRPr>
            </a:pPr>
            <a:r>
              <a:rPr>
                <a:ea typeface="Noto Sans CJK KR"/>
              </a:rPr>
              <a:t>평가점으로 옮긴 지표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961888"/>
            <a:ext cx="10972800" cy="356616"/>
          </a:xfrm>
          <a:prstGeom prst="roundRect">
            <a:avLst>
              <a:gd name="adj" fmla="val 12000"/>
            </a:avLst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4944" y="5984748"/>
            <a:ext cx="10652760" cy="28346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150" b="0">
                <a:solidFill>
                  <a:srgbClr val="D88325"/>
                </a:solidFill>
                <a:latin typeface="Noto Sans CJK KR"/>
              </a:defRPr>
            </a:pPr>
            <a:r>
              <a:rPr>
                <a:ea typeface="Noto Sans CJK KR"/>
              </a:rPr>
              <a:t>Type 1도 box-constrained estimator의 활성 제약을 반영한 정확한 covariance는 아닙니다.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D8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060704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000" b="1">
                <a:solidFill>
                  <a:srgbClr val="0D8F9F"/>
                </a:solidFill>
                <a:latin typeface="Noto Sans CJK KR"/>
              </a:defRPr>
            </a:pPr>
            <a:r>
              <a:rPr>
                <a:ea typeface="Noto Sans CJK KR"/>
              </a:rPr>
              <a:t>APPENDIX / TRACEABILITY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52120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2800" b="1">
                <a:solidFill>
                  <a:srgbClr val="12263D"/>
                </a:solidFill>
                <a:latin typeface="Noto Sans CJK KR"/>
              </a:defRPr>
            </a:pPr>
            <a:r>
              <a:rPr>
                <a:ea typeface="Noto Sans CJK KR"/>
              </a:rPr>
              <a:t>원본 함수·검증 범위·출처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243584"/>
            <a:ext cx="11018520" cy="3474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200" b="0">
                <a:solidFill>
                  <a:srgbClr val="63798D"/>
                </a:solidFill>
                <a:latin typeface="Noto Sans CJK KR"/>
              </a:defRPr>
            </a:pPr>
            <a:r>
              <a:rPr>
                <a:ea typeface="Noto Sans CJK KR"/>
              </a:rPr>
              <a:t>코드를 수정하지 않고 현재 구현을 읽고 합성 예제를 실행해 작성했습니다.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6473952"/>
            <a:ext cx="11018520" cy="10972"/>
          </a:xfrm>
          <a:prstGeom prst="rect">
            <a:avLst/>
          </a:prstGeom>
          <a:solidFill>
            <a:srgbClr val="D8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7" y="6547104"/>
            <a:ext cx="1065276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850" b="0">
                <a:solidFill>
                  <a:srgbClr val="63798D"/>
                </a:solidFill>
                <a:latin typeface="Noto Sans CJK KR"/>
              </a:defRPr>
            </a:pPr>
            <a:r>
              <a:rPr>
                <a:ea typeface="Noto Sans CJK KR"/>
              </a:rPr>
              <a:t>MERGE/013.py · L52–981   |   source 00568f2 · 2026.10.13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37960"/>
            <a:ext cx="393192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5000"/>
              </a:lnSpc>
              <a:spcAft>
                <a:spcPts val="500"/>
              </a:spcAft>
              <a:defRPr sz="1000" b="1">
                <a:solidFill>
                  <a:srgbClr val="0D8F9F"/>
                </a:solidFill>
                <a:latin typeface="Noto Sans CJK KR"/>
              </a:defRPr>
            </a:pPr>
            <a:r>
              <a:rPr>
                <a:ea typeface="Noto Sans CJK KR"/>
              </a:rPr>
              <a:t>35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783080"/>
          <a:ext cx="10972800" cy="3172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7315200"/>
                <a:gridCol w="1463040"/>
              </a:tblGrid>
              <a:tr h="453281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400" b="1">
                          <a:solidFill>
                            <a:srgbClr val="FFFFFF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영역</a:t>
                      </a:r>
                    </a:p>
                  </a:txBody>
                  <a:tcPr marL="118872" marR="91440" marT="36576" marB="22860" anchor="ctr">
                    <a:solidFill>
                      <a:srgbClr val="1226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400" b="1">
                          <a:solidFill>
                            <a:srgbClr val="FFFFFF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주요 함수</a:t>
                      </a:r>
                    </a:p>
                  </a:txBody>
                  <a:tcPr marL="118872" marR="91440" marT="36576" marB="22860" anchor="ctr">
                    <a:solidFill>
                      <a:srgbClr val="1226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400" b="1">
                          <a:solidFill>
                            <a:srgbClr val="FFFFFF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소스 줄</a:t>
                      </a:r>
                    </a:p>
                  </a:txBody>
                  <a:tcPr marL="118872" marR="91440" marT="36576" marB="22860" anchor="ctr">
                    <a:solidFill>
                      <a:srgbClr val="12263D"/>
                    </a:solidFill>
                  </a:tcPr>
                </a:tc>
              </a:tr>
              <a:tr h="453281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기저 / preset / valve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cpe_38para / get_active_span_limits / make_lambda_vector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52–239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</a:tr>
              <a:tr h="453281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평가점</a:t>
                      </a:r>
                    </a:p>
                  </a:txBody>
                  <a:tcPr marL="118872" marR="91440" marT="36576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build_virtual_chip_points / get_virtual_points_for_group</a:t>
                      </a:r>
                    </a:p>
                  </a:txBody>
                  <a:tcPr marL="118872" marR="91440" marT="36576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242–358</a:t>
                      </a:r>
                    </a:p>
                  </a:txBody>
                  <a:tcPr marL="118872" marR="91440" marT="36576" marB="22860" anchor="ctr">
                    <a:solidFill>
                      <a:srgbClr val="FFFFFF"/>
                    </a:solidFill>
                  </a:tcPr>
                </a:tc>
              </a:tr>
              <a:tr h="453281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Ridge / G-opt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ridge_predict / gopt_value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368–453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</a:tr>
              <a:tr h="453281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Span / box / CD</a:t>
                      </a:r>
                    </a:p>
                  </a:txBody>
                  <a:tcPr marL="118872" marR="91440" marT="36576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calc_contribution_spans / projected_coordinate_descent_ridge</a:t>
                      </a:r>
                    </a:p>
                  </a:txBody>
                  <a:tcPr marL="118872" marR="91440" marT="36576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456–570</a:t>
                      </a:r>
                    </a:p>
                  </a:txBody>
                  <a:tcPr marL="118872" marR="91440" marT="36576" marB="22860" anchor="ctr">
                    <a:solidFill>
                      <a:srgbClr val="FFFFFF"/>
                    </a:solidFill>
                  </a:tcPr>
                </a:tc>
              </a:tr>
              <a:tr h="453281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한 방향 solver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solve_vba_style_ridge_one_axis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586–722</a:t>
                      </a:r>
                    </a:p>
                  </a:txBody>
                  <a:tcPr marL="118872" marR="91440" marT="36576" marB="22860" anchor="ctr">
                    <a:solidFill>
                      <a:srgbClr val="F2F6FA"/>
                    </a:solidFill>
                  </a:tcPr>
                </a:tc>
              </a:tr>
              <a:tr h="453282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shot 실행 / 결과</a:t>
                      </a:r>
                    </a:p>
                  </a:txBody>
                  <a:tcPr marL="118872" marR="91440" marT="36576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run_cpe38_vba_style_shotwise</a:t>
                      </a:r>
                    </a:p>
                  </a:txBody>
                  <a:tcPr marL="118872" marR="91440" marT="36576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22384D"/>
                          </a:solidFill>
                          <a:latin typeface="Noto Sans CJK KR"/>
                        </a:defRPr>
                      </a:pPr>
                      <a:r>
                        <a:rPr>
                          <a:ea typeface="Noto Sans CJK KR"/>
                        </a:rPr>
                        <a:t>730–981</a:t>
                      </a:r>
                    </a:p>
                  </a:txBody>
                  <a:tcPr marL="118872" marR="91440" marT="36576" marB="2286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76656" y="5248656"/>
            <a:ext cx="10789920" cy="5760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450" b="0">
                <a:solidFill>
                  <a:srgbClr val="63798D"/>
                </a:solidFill>
                <a:latin typeface="Noto Sans CJK KR"/>
              </a:defRPr>
            </a:pPr>
            <a:r>
              <a:rPr>
                <a:ea typeface="Noto Sans CJK KR"/>
              </a:rPr>
              <a:t>합성 예제: NumPy RNG seed=16 / X 방향 32개 측정점 / 3×3 chip 평가점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450" b="0">
                <a:solidFill>
                  <a:srgbClr val="63798D"/>
                </a:solidFill>
                <a:latin typeface="Noto Sans CJK KR"/>
              </a:defRPr>
            </a:pPr>
            <a:r>
              <a:rPr>
                <a:ea typeface="Noto Sans CJK KR"/>
              </a:rPr>
              <a:t>VBA 원본·생산 데이터·ADI–OCO 예측 성능의 검증은 이 자료에 포함하지 않았습니다.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5961888"/>
            <a:ext cx="10972800" cy="356616"/>
          </a:xfrm>
          <a:prstGeom prst="roundRect">
            <a:avLst>
              <a:gd name="adj" fmla="val 12000"/>
            </a:avLst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" y="5984748"/>
            <a:ext cx="10652760" cy="28346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150" b="0">
                <a:solidFill>
                  <a:srgbClr val="D88325"/>
                </a:solidFill>
                <a:latin typeface="Noto Sans CJK KR"/>
              </a:defRPr>
            </a:pPr>
            <a:r>
              <a:rPr>
                <a:ea typeface="Noto Sans CJK KR"/>
              </a:rPr>
              <a:t>출처 링크와 상세 해석은 각 슬라이드의 발표자 노트에도 들어 있습니다.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CPE38 회귀: Ridge, G-opt, Span 제약의 실제 구현</dc:title>
  <dc:subject>MERGE/013.py 코드 기반 상세 설명</dc:subject>
  <dc:creator>Code Review</dc:creator>
  <cp:keywords>CPE38, ADI, OCO, Ridge, G-opt, Span, RK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